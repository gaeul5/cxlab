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8.xml" ContentType="application/inkml+xml"/>
  <Override PartName="/ppt/notesSlides/notesSlide10.xml" ContentType="application/vnd.openxmlformats-officedocument.presentationml.notesSlide+xml"/>
  <Override PartName="/ppt/ink/ink9.xml" ContentType="application/inkml+xml"/>
  <Override PartName="/ppt/notesSlides/notesSlide11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899" r:id="rId2"/>
    <p:sldId id="911" r:id="rId3"/>
    <p:sldId id="912" r:id="rId4"/>
    <p:sldId id="939" r:id="rId5"/>
    <p:sldId id="920" r:id="rId6"/>
    <p:sldId id="932" r:id="rId7"/>
    <p:sldId id="921" r:id="rId8"/>
    <p:sldId id="922" r:id="rId9"/>
    <p:sldId id="937" r:id="rId10"/>
    <p:sldId id="933" r:id="rId11"/>
    <p:sldId id="934" r:id="rId12"/>
    <p:sldId id="938" r:id="rId13"/>
    <p:sldId id="936" r:id="rId14"/>
    <p:sldId id="935" r:id="rId15"/>
    <p:sldId id="913" r:id="rId16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8" autoAdjust="0"/>
    <p:restoredTop sz="87237" autoAdjust="0"/>
  </p:normalViewPr>
  <p:slideViewPr>
    <p:cSldViewPr showGuides="1">
      <p:cViewPr>
        <p:scale>
          <a:sx n="100" d="100"/>
          <a:sy n="100" d="100"/>
        </p:scale>
        <p:origin x="324" y="-252"/>
      </p:cViewPr>
      <p:guideLst>
        <p:guide orient="horz" pos="13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400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5A56885-FA9A-40C7-9B46-646BB201EC77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F0C30B1-82B3-49AD-A24D-A620B6C3D6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5404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31T01:50:52.6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31T01:50:54.1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35,'147'10,"6"0,-51-9,92-3,-135-7,-41 5,36-3,-38 7,20-1,65-9,-53 4,0 2,91 5,-51 0,-84-1,21 1,-1-2,1 0,38-9,-49 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31T01:50:59.5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99,'1094'0,"-1020"-3,1-5,106-23,-3 0,-59 16,-61 8,-1 4,75 4,-35 1,456-2,-537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31T01:51:02.5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0,'96'8,"-26"-1,74 4,80 2,-132-12,230 10,-236-7,-34-2,67 11,-100-10,-3-1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31T01:51:06.8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1,'110'0,"763"15,-264 11,-312-6,-128-6,146-10,-168-6,-123 2,0 1,0 2,24 5,-26-5,1 0,28-1,-28-2,41 7,-45-3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31T01:51:09.4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1,'296'18,"-166"-6,251 17,814 79,-1109-102,117-5,-85-3,83 2,-182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31T01:51:12.2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19,'17'-4,"-1"1,1 0,0 1,0 1,24 0,1 1,-17-1,279-2,-145 21,-28-2,-46-11,68 6,-71-6,-60-5,0 1,0 1,0 1,32 8,-38-6,95 35,-108-39,-1 0,0 0,0 0,0 0,0 1,0-1,0 1,0 0,3 3,3 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31T05:22:12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1780 1729 24575,'-32'2'0,"0"1"0,-37 8 0,4 0 0,-103 11 0,-244 1 0,371-23 0,0-2 0,0-2 0,-65-15 0,16-3 0,-76-20 0,139 32 0,1 0 0,0-1 0,0-2 0,-26-17 0,8 1 0,-78-54 0,104 69 0,1-1 0,0 0 0,2-2 0,-21-26 0,26 30 0,3 4 0,0 0 0,0 0 0,1 0 0,0-1 0,1 0 0,0 0 0,1-1 0,0 1 0,1-1 0,-3-13 0,-14-166 0,19 162 0,2 0 0,0-1 0,2 1 0,12-48 0,0 19 0,3 1 0,2 0 0,3 1 0,2 2 0,45-73 0,-39 76 0,-25 37 0,1 0 0,0 1 0,1 0 0,1 1 0,0 0 0,0 0 0,1 1 0,14-12 0,21-11 0,2 1 0,1 3 0,99-46 0,-46 31 0,-66 27 0,1 1 0,70-20 0,-9 15 0,181-16 0,-34 37 0,-212 4 0,0 2 0,1 0 0,48 18 0,-51-14 0,-5-2 0,37 20 0,6 3 0,-40-19 0,38 22 0,-20-10 0,-33-17 0,-1 1 0,1 0 0,-2 1 0,1 0 0,18 21 0,-19-21 0,0 0 0,0 0 0,14 7 0,-17-11 0,0-1 0,-1 2 0,1-1 0,-1 1 0,0 0 0,-1 0 0,1 1 0,-2-1 0,11 16 0,-9-11 0,0-1 0,1 0 0,1 0 0,13 13 0,-16-18 0,0 0 0,0 1 0,-1 0 0,1 1 0,-2-1 0,1 1 0,0 0 0,-1 0 0,-1 0 0,1 1 0,-1-1 0,0 1 0,2 9 0,12 156 0,-16 100 0,-3-247 0,-1 0 0,-1 0 0,-1-1 0,-1 1 0,-1-1 0,-14 30 0,-38 102 0,35-86 0,14-41 0,9-24 0,-1 1 0,0-1 0,0 1 0,-1-1 0,1 0 0,-2 0 0,1 0 0,0-1 0,-1 1 0,0-1 0,-1 1 0,1-1 0,-1-1 0,-7 7 0,1-2 0,0 1 0,-17 19 0,-5 5 0,28-29 0,-1-1 0,0 0 0,0-1 0,-1 1 0,1-1 0,-1 0 0,-7 2 0,5-2 0,0 0 0,1 1 0,-14 8 0,-97 65 0,80-60-1365,22-11-5461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31T05:25:33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1503 1854 24575,'-129'8'0,"24"0"0,-256-6 0,229-2 0,99-2 0,0-2 0,1-1 0,0-2 0,0-1 0,-49-19 0,-25-6 0,90 28 0,0-1 0,0-1 0,1 0 0,-25-16 0,-56-44 0,36 23 0,53 38 0,0 0 0,1 0 0,-1-1 0,1 0 0,0 0 0,1 0 0,0-1 0,0 0 0,0 0 0,-4-12 0,-4-12 0,-11-47 0,18 59 0,-6-24 0,-9-30 0,15 56 0,1-1 0,1 1 0,1-1 0,0 1 0,2-1 0,0 0 0,2-30 0,25-133 0,-21 154 0,-1 9 0,1 1 0,1 0 0,0-1 0,1 2 0,20-34 0,-11 24 0,2 2 0,40-46 0,-20 27 0,-22 25 0,1 0 0,32-29 0,77-58 0,-100 87 0,0 0 0,56-28 0,-62 36 0,55-32 0,-28 15 0,91-40 0,-12 27 0,-111 36 0,0-1 0,0 0 0,-1-1 0,17-10 0,-12 6 0,30-12 0,-33 17 0,0 1 0,1 0 0,-1 1 0,1 1 0,0 0 0,25 0 0,-12 2 0,31-6 0,-31 3 0,35-1 0,-59 5 0,29 0 0,1 1 0,53 9 0,-79-8 0,1 1 0,0 0 0,-1 1 0,1 0 0,-1 0 0,0 1 0,0 0 0,-1 1 0,0 0 0,0 1 0,0 0 0,10 10 0,0 2 0,1-2 0,33 22 0,-22-16 0,-18-12 0,-1 0 0,18 21 0,-18-19 0,0 0 0,15 11 0,211 177 0,-223-187 0,0 0 0,-1 1 0,15 21 0,21 21 0,-42-48 0,1 1 0,-1 0 0,0 0 0,-1 1 0,0 0 0,-1 0 0,0 1 0,-1 0 0,0 0 0,-1 0 0,2 13 0,0 5 0,-2-1 0,-1 1 0,-2 49 0,-1-41 0,1-20 0,-1 1 0,-1-1 0,0 0 0,-2 0 0,-7 31 0,4-27 0,-6 37 0,4-17 0,3-25 0,-1 0 0,-1 0 0,0 0 0,-17 27 0,-4 9 0,-1 15 0,21-46 0,0-1 0,-2 0 0,-1 0 0,-24 35 0,-11 12 0,27-38 0,12-21 0,0-1 0,0 0 0,0 0 0,-1 0 0,0-1 0,-1 0 0,0-1 0,0 0 0,-11 6 0,-12 4 0,-47 16 0,73-30 0,-23 10 0,17-7 0,-1 0 0,-22 6 0,5-5 0,-1-1 0,1-2 0,-36 1 0,43-4 0,1 1 0,-41 8 0,52-7 86,-1 0-1,1-1 0,-19 0 1,26-1-242,-1-1 1,0 1 0,0-1 0,0 0 0,1-1 0,-1 1 0,0-1-1,1 0 1,0 0 0,-9-5 0,4 0-6671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31T05:26:01.9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17,'544'0,"-516"-1,34-6,-47 4,0 1,0 0,0 1,0 1,0 0,-1 1,1 1,0 0,15 5,-10 1,-1 1,0 1,-1 0,19 14,-26-17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31T05:26:34.6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177 1,'-18'321,"12"-243,-39 555,37-528,-4 98,9-150,-15 85,5-53,6-35,1-18,0 53,4-65,0 1,-1-1,-8 29,7-34,0 1,1 0,0 0,2 0,0 0,1 0,1 17,12 60,-3-17,35 135,-22-132,19 129,-35-132,-6 139,-3-101,4 9,-4 129,-6-155,-2 50,10-33,8 187,-1-155,-2-34,9-15,-1-19,-8 45,-3-22,15-6,-16-75,-1-2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6044024A-FB19-4357-B686-487AF6892FEC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3C6400C-690E-4809-B66E-CD8DD4AFC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7296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31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778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535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159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958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066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927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043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419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403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506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648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0267" y="3474339"/>
            <a:ext cx="11311466" cy="665722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lang="ko-KR" alt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438338" y="4149781"/>
            <a:ext cx="9315326" cy="7039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B1CB5637-BD5D-82E7-BFC5-3B8CEE9AD7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29797" y="5732024"/>
            <a:ext cx="5510498" cy="6657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1400" b="1"/>
            </a:lvl1pPr>
            <a:lvl2pPr marL="354013" indent="-174625" algn="r">
              <a:lnSpc>
                <a:spcPct val="100000"/>
              </a:lnSpc>
              <a:spcBef>
                <a:spcPts val="600"/>
              </a:spcBef>
              <a:defRPr sz="1200"/>
            </a:lvl2pPr>
            <a:lvl3pPr marL="361950" indent="0" algn="r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100"/>
            </a:lvl3pPr>
            <a:lvl4pPr marL="719138" indent="-176213" algn="r">
              <a:buFont typeface="Wingdings" panose="05000000000000000000" pitchFamily="2" charset="2"/>
              <a:buChar char="v"/>
              <a:defRPr sz="1000"/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pic>
        <p:nvPicPr>
          <p:cNvPr id="18" name="Picture 2" descr="http://itorganization2017.files.wordpress.com/2010/08/convergence.jpg">
            <a:extLst>
              <a:ext uri="{FF2B5EF4-FFF2-40B4-BE49-F238E27FC236}">
                <a16:creationId xmlns:a16="http://schemas.microsoft.com/office/drawing/2014/main" id="{0D078C69-D453-D65D-F609-70C3A5BCA84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" t="2949" r="2165" b="9162"/>
          <a:stretch/>
        </p:blipFill>
        <p:spPr bwMode="auto">
          <a:xfrm>
            <a:off x="2744" y="0"/>
            <a:ext cx="12192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19B6B1A-6D37-6052-3A2A-5685CE03A30A}"/>
              </a:ext>
            </a:extLst>
          </p:cNvPr>
          <p:cNvSpPr txBox="1"/>
          <p:nvPr userDrawn="1"/>
        </p:nvSpPr>
        <p:spPr>
          <a:xfrm>
            <a:off x="366348" y="6271214"/>
            <a:ext cx="4064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고객경험연구실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Customer Experience Laboratory</a:t>
            </a:r>
          </a:p>
        </p:txBody>
      </p:sp>
      <p:pic>
        <p:nvPicPr>
          <p:cNvPr id="26" name="그림 25" descr="화살이(가) 표시된 사진&#10;&#10;자동 생성된 설명">
            <a:extLst>
              <a:ext uri="{FF2B5EF4-FFF2-40B4-BE49-F238E27FC236}">
                <a16:creationId xmlns:a16="http://schemas.microsoft.com/office/drawing/2014/main" id="{2E6CA161-AFE2-394A-BE00-839E9AA1F5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67" y="5877272"/>
            <a:ext cx="829299" cy="37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41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2D62F9-C09C-3380-67D6-EE865AE0B774}"/>
              </a:ext>
            </a:extLst>
          </p:cNvPr>
          <p:cNvSpPr/>
          <p:nvPr userDrawn="1"/>
        </p:nvSpPr>
        <p:spPr>
          <a:xfrm>
            <a:off x="419449" y="1761"/>
            <a:ext cx="11507919" cy="906959"/>
          </a:xfrm>
          <a:prstGeom prst="rect">
            <a:avLst/>
          </a:prstGeom>
          <a:gradFill flip="none" rotWithShape="1">
            <a:gsLst>
              <a:gs pos="39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5B90706-954C-6D13-F8E3-882769B16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07" y="205418"/>
            <a:ext cx="11121711" cy="52180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E5E895-7F4D-A102-04FF-0179B9AD981E}"/>
              </a:ext>
            </a:extLst>
          </p:cNvPr>
          <p:cNvSpPr/>
          <p:nvPr userDrawn="1"/>
        </p:nvSpPr>
        <p:spPr>
          <a:xfrm>
            <a:off x="623391" y="1636432"/>
            <a:ext cx="11233249" cy="488382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377123B-AD04-50AF-DE49-56A0FD16E2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75208" y="1700808"/>
            <a:ext cx="11121711" cy="4752527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>
              <a:lnSpc>
                <a:spcPct val="100000"/>
              </a:lnSpc>
              <a:spcBef>
                <a:spcPts val="600"/>
              </a:spcBef>
              <a:defRPr sz="1400" b="1"/>
            </a:lvl1pPr>
            <a:lvl2pPr marL="354013" indent="-174625">
              <a:lnSpc>
                <a:spcPct val="100000"/>
              </a:lnSpc>
              <a:spcBef>
                <a:spcPts val="600"/>
              </a:spcBef>
              <a:defRPr sz="1200"/>
            </a:lvl2pPr>
            <a:lvl3pPr marL="541338" indent="-179388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1100"/>
            </a:lvl3pPr>
            <a:lvl4pPr marL="719138" indent="-176213">
              <a:buFont typeface="Wingdings" panose="05000000000000000000" pitchFamily="2" charset="2"/>
              <a:buChar char="v"/>
              <a:defRPr sz="1000"/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넷째수준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12041D5-1354-F0E8-F599-FA94A69A4AC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75208" y="988360"/>
            <a:ext cx="11124146" cy="5684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400" b="1"/>
            </a:lvl1pPr>
            <a:lvl2pPr marL="354013" indent="-174625">
              <a:lnSpc>
                <a:spcPct val="100000"/>
              </a:lnSpc>
              <a:spcBef>
                <a:spcPts val="600"/>
              </a:spcBef>
              <a:defRPr sz="1200"/>
            </a:lvl2pPr>
            <a:lvl3pPr marL="541338" indent="-179388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1100"/>
            </a:lvl3pPr>
            <a:lvl4pPr marL="719138" indent="-176213">
              <a:buFont typeface="Wingdings" panose="05000000000000000000" pitchFamily="2" charset="2"/>
              <a:buChar char="v"/>
              <a:defRPr sz="1000"/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넷째수준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6FA9C6-178B-C7D5-D7E8-206A23D3550B}"/>
              </a:ext>
            </a:extLst>
          </p:cNvPr>
          <p:cNvSpPr/>
          <p:nvPr userDrawn="1"/>
        </p:nvSpPr>
        <p:spPr>
          <a:xfrm>
            <a:off x="407368" y="814400"/>
            <a:ext cx="11520000" cy="94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27AEDD-DBDA-8C14-E0F1-4EA732554FD9}"/>
              </a:ext>
            </a:extLst>
          </p:cNvPr>
          <p:cNvSpPr/>
          <p:nvPr userDrawn="1"/>
        </p:nvSpPr>
        <p:spPr>
          <a:xfrm>
            <a:off x="0" y="0"/>
            <a:ext cx="419449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900" dirty="0"/>
              <a:t>© CXLab.</a:t>
            </a:r>
            <a:br>
              <a:rPr lang="en-US" altLang="ko-KR" sz="900" dirty="0"/>
            </a:br>
            <a:r>
              <a:rPr lang="en-US" altLang="ko-KR" sz="900" dirty="0"/>
              <a:t>All Rights Reserved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593409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47CDC8-1BCD-D669-D6C4-E4B60B7165C6}"/>
              </a:ext>
            </a:extLst>
          </p:cNvPr>
          <p:cNvSpPr/>
          <p:nvPr userDrawn="1"/>
        </p:nvSpPr>
        <p:spPr>
          <a:xfrm>
            <a:off x="419449" y="1761"/>
            <a:ext cx="11507919" cy="906959"/>
          </a:xfrm>
          <a:prstGeom prst="rect">
            <a:avLst/>
          </a:prstGeom>
          <a:gradFill flip="none" rotWithShape="1">
            <a:gsLst>
              <a:gs pos="39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8C08645-2437-3C05-6237-124DC25D3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07" y="205418"/>
            <a:ext cx="11121711" cy="52180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B2D6FF-B944-1664-876C-CEDA511E6B64}"/>
              </a:ext>
            </a:extLst>
          </p:cNvPr>
          <p:cNvSpPr/>
          <p:nvPr userDrawn="1"/>
        </p:nvSpPr>
        <p:spPr>
          <a:xfrm>
            <a:off x="623391" y="1118450"/>
            <a:ext cx="11233249" cy="540181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017D6A1-0917-F17A-8D98-46EA282AA2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75208" y="1196752"/>
            <a:ext cx="11121711" cy="5256583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>
              <a:lnSpc>
                <a:spcPct val="100000"/>
              </a:lnSpc>
              <a:spcBef>
                <a:spcPts val="600"/>
              </a:spcBef>
              <a:defRPr sz="1400" b="1"/>
            </a:lvl1pPr>
            <a:lvl2pPr marL="354013" indent="-174625">
              <a:lnSpc>
                <a:spcPct val="100000"/>
              </a:lnSpc>
              <a:spcBef>
                <a:spcPts val="600"/>
              </a:spcBef>
              <a:defRPr sz="1200"/>
            </a:lvl2pPr>
            <a:lvl3pPr marL="541338" indent="-179388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1100"/>
            </a:lvl3pPr>
            <a:lvl4pPr marL="719138" indent="-176213">
              <a:buFont typeface="Wingdings" panose="05000000000000000000" pitchFamily="2" charset="2"/>
              <a:buChar char="v"/>
              <a:defRPr sz="1000"/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넷째수준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8DBDD2-AF5E-D070-8724-85F51080E036}"/>
              </a:ext>
            </a:extLst>
          </p:cNvPr>
          <p:cNvSpPr/>
          <p:nvPr userDrawn="1"/>
        </p:nvSpPr>
        <p:spPr>
          <a:xfrm>
            <a:off x="407368" y="814400"/>
            <a:ext cx="11520000" cy="94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96FE63-5FD3-B3C5-9C90-5320B6A24F22}"/>
              </a:ext>
            </a:extLst>
          </p:cNvPr>
          <p:cNvSpPr/>
          <p:nvPr userDrawn="1"/>
        </p:nvSpPr>
        <p:spPr>
          <a:xfrm>
            <a:off x="0" y="0"/>
            <a:ext cx="419449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900" dirty="0"/>
              <a:t>© CXLab.</a:t>
            </a:r>
            <a:br>
              <a:rPr lang="en-US" altLang="ko-KR" sz="900" dirty="0"/>
            </a:br>
            <a:r>
              <a:rPr lang="en-US" altLang="ko-KR" sz="900" dirty="0"/>
              <a:t>All Rights Reserved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78659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8">
            <a:extLst>
              <a:ext uri="{FF2B5EF4-FFF2-40B4-BE49-F238E27FC236}">
                <a16:creationId xmlns:a16="http://schemas.microsoft.com/office/drawing/2014/main" id="{E58E07AA-D77B-4C1B-9DC4-A55B394DD3AE}"/>
              </a:ext>
            </a:extLst>
          </p:cNvPr>
          <p:cNvSpPr/>
          <p:nvPr userDrawn="1"/>
        </p:nvSpPr>
        <p:spPr>
          <a:xfrm>
            <a:off x="2400943" y="3628617"/>
            <a:ext cx="366607" cy="355478"/>
          </a:xfrm>
          <a:prstGeom prst="ellipse">
            <a:avLst/>
          </a:prstGeom>
          <a:solidFill>
            <a:schemeClr val="bg1">
              <a:lumMod val="5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944D01-6B7B-4ED7-9D8C-70DF1B045219}"/>
              </a:ext>
            </a:extLst>
          </p:cNvPr>
          <p:cNvSpPr txBox="1"/>
          <p:nvPr userDrawn="1"/>
        </p:nvSpPr>
        <p:spPr>
          <a:xfrm>
            <a:off x="812090" y="3745504"/>
            <a:ext cx="20036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latin typeface="나눔고딕" pitchFamily="2" charset="-127"/>
                <a:ea typeface="나눔고딕" pitchFamily="2" charset="-127"/>
              </a:rPr>
              <a:t>CONTENTS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C84FB9B-9791-41DC-BF0E-7879531A371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83433" y="4339445"/>
            <a:ext cx="5616624" cy="10688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354013" indent="-174625">
              <a:lnSpc>
                <a:spcPct val="100000"/>
              </a:lnSpc>
              <a:spcBef>
                <a:spcPts val="600"/>
              </a:spcBef>
              <a:defRPr sz="1200"/>
            </a:lvl2pPr>
            <a:lvl3pPr marL="541338" indent="-179388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1100"/>
            </a:lvl3pPr>
            <a:lvl4pPr marL="719138" indent="-176213">
              <a:buFont typeface="Wingdings" panose="05000000000000000000" pitchFamily="2" charset="2"/>
              <a:buChar char="v"/>
              <a:defRPr sz="1000"/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넷째수준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42F6A10-8B89-099F-074C-2F60657A78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5966" r="20712" b="19350"/>
          <a:stretch/>
        </p:blipFill>
        <p:spPr>
          <a:xfrm>
            <a:off x="5846154" y="-1"/>
            <a:ext cx="6345845" cy="530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75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CCEB52-CCF4-4C80-A360-2FB12F986D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524" t="16664" r="5993" b="7064"/>
          <a:stretch/>
        </p:blipFill>
        <p:spPr>
          <a:xfrm>
            <a:off x="809183" y="507332"/>
            <a:ext cx="886295" cy="3077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075910-61E2-411D-A0F1-F3B09BC71406}"/>
              </a:ext>
            </a:extLst>
          </p:cNvPr>
          <p:cNvSpPr txBox="1"/>
          <p:nvPr userDrawn="1"/>
        </p:nvSpPr>
        <p:spPr>
          <a:xfrm>
            <a:off x="735264" y="815109"/>
            <a:ext cx="4064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고객경험연구실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Customer Experience Laboratory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FA4200-7BAA-44FA-9A5F-3F7344B6F1D2}"/>
              </a:ext>
            </a:extLst>
          </p:cNvPr>
          <p:cNvSpPr txBox="1"/>
          <p:nvPr userDrawn="1"/>
        </p:nvSpPr>
        <p:spPr>
          <a:xfrm>
            <a:off x="809183" y="4025726"/>
            <a:ext cx="495369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>
                <a:latin typeface="나눔고딕" pitchFamily="2" charset="-127"/>
                <a:ea typeface="나눔고딕" pitchFamily="2" charset="-127"/>
              </a:rPr>
              <a:t>감사합니다</a:t>
            </a:r>
            <a:r>
              <a:rPr lang="en-US" altLang="ko-KR" sz="38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3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D3AA89-6626-14CF-0B41-845F535C9A4B}"/>
              </a:ext>
            </a:extLst>
          </p:cNvPr>
          <p:cNvSpPr/>
          <p:nvPr userDrawn="1"/>
        </p:nvSpPr>
        <p:spPr>
          <a:xfrm>
            <a:off x="0" y="0"/>
            <a:ext cx="419449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900" dirty="0"/>
              <a:t>© Do-</a:t>
            </a:r>
            <a:r>
              <a:rPr lang="en-US" altLang="ko-KR" sz="900" dirty="0" err="1"/>
              <a:t>Hyung</a:t>
            </a:r>
            <a:r>
              <a:rPr lang="en-US" altLang="ko-KR" sz="900" dirty="0"/>
              <a:t> Park</a:t>
            </a:r>
          </a:p>
          <a:p>
            <a:pPr algn="ctr"/>
            <a:r>
              <a:rPr lang="en-US" altLang="ko-KR" sz="900" dirty="0"/>
              <a:t>All Rights Reserved</a:t>
            </a:r>
            <a:endParaRPr lang="ko-KR" altLang="en-US" sz="900" dirty="0"/>
          </a:p>
        </p:txBody>
      </p:sp>
      <p:pic>
        <p:nvPicPr>
          <p:cNvPr id="10" name="그림 9" descr="화살이(가) 표시된 사진&#10;&#10;자동 생성된 설명">
            <a:extLst>
              <a:ext uri="{FF2B5EF4-FFF2-40B4-BE49-F238E27FC236}">
                <a16:creationId xmlns:a16="http://schemas.microsoft.com/office/drawing/2014/main" id="{A03212E5-EE18-86A0-9F6A-7F42B5AF26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83" y="421167"/>
            <a:ext cx="829299" cy="37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9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08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68" r:id="rId3"/>
    <p:sldLayoutId id="2147483662" r:id="rId4"/>
    <p:sldLayoutId id="2147483660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lang="ko-KR" altLang="en-US" sz="20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1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lang="ko-KR" alt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58800" indent="-285750" algn="l" defTabSz="914400" rtl="0" eaLnBrk="1" latinLnBrk="1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lang="ko-KR" alt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25500" indent="-285750" algn="l" defTabSz="914400" rtl="0" eaLnBrk="1" latinLnBrk="1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lang="ko-KR" alt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66700" algn="l" defTabSz="914400" rtl="0" eaLnBrk="1" latinLnBrk="1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lang="ko-KR" alt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66700" algn="l" defTabSz="914400" rtl="0" eaLnBrk="1" latinLnBrk="1" hangingPunct="1">
        <a:lnSpc>
          <a:spcPct val="150000"/>
        </a:lnSpc>
        <a:spcBef>
          <a:spcPct val="20000"/>
        </a:spcBef>
        <a:buFont typeface="Arial" pitchFamily="34" charset="0"/>
        <a:buChar char="»"/>
        <a:defRPr lang="ko-KR" alt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12" Type="http://schemas.openxmlformats.org/officeDocument/2006/relationships/customXml" Target="../ink/ink5.xml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11" Type="http://schemas.openxmlformats.org/officeDocument/2006/relationships/image" Target="../media/image11.png"/><Relationship Id="rId5" Type="http://schemas.openxmlformats.org/officeDocument/2006/relationships/image" Target="../media/image80.png"/><Relationship Id="rId15" Type="http://schemas.openxmlformats.org/officeDocument/2006/relationships/image" Target="../media/image1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0.png"/><Relationship Id="rId1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customXml" Target="../ink/ink8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customXml" Target="../ink/ink9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customXml" Target="../ink/ink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A1657BC-A679-AC4F-D705-A098A9D74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267" y="3752681"/>
            <a:ext cx="11311466" cy="550184"/>
          </a:xfrm>
        </p:spPr>
        <p:txBody>
          <a:bodyPr/>
          <a:lstStyle/>
          <a:p>
            <a:r>
              <a:rPr lang="ko-KR" altLang="en-US" dirty="0"/>
              <a:t>감정 기반 </a:t>
            </a:r>
            <a:r>
              <a:rPr lang="en-US" altLang="ko-KR" dirty="0"/>
              <a:t>TV </a:t>
            </a:r>
            <a:r>
              <a:rPr lang="ko-KR" altLang="en-US" dirty="0"/>
              <a:t>디자인 평가</a:t>
            </a:r>
            <a:r>
              <a:rPr lang="en-US" altLang="ko-KR" dirty="0"/>
              <a:t> : </a:t>
            </a:r>
            <a:r>
              <a:rPr lang="ko-KR" altLang="en-US" dirty="0" err="1"/>
              <a:t>군집별</a:t>
            </a:r>
            <a:r>
              <a:rPr lang="ko-KR" altLang="en-US" dirty="0"/>
              <a:t> 프로파일링</a:t>
            </a:r>
            <a:br>
              <a:rPr lang="en-US" altLang="ko-KR" dirty="0"/>
            </a:br>
            <a:r>
              <a:rPr lang="ko-KR" altLang="en-US" dirty="0"/>
              <a:t>진행 과정 발표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BCA3EBF5-F1ED-DAAD-69FF-ECF2C96EE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8338" y="4431437"/>
            <a:ext cx="9315326" cy="581739"/>
          </a:xfrm>
        </p:spPr>
        <p:txBody>
          <a:bodyPr/>
          <a:lstStyle/>
          <a:p>
            <a:r>
              <a:rPr lang="en-US" altLang="ko-KR" dirty="0"/>
              <a:t>0731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83E226B-5A03-727B-D3E5-BA8F5E3DE20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ko-KR" i="1" dirty="0"/>
              <a:t>Kookmin</a:t>
            </a:r>
            <a:r>
              <a:rPr lang="ko-KR" altLang="en-US" i="1" dirty="0"/>
              <a:t> </a:t>
            </a:r>
            <a:r>
              <a:rPr lang="en-US" altLang="ko-KR" i="1" dirty="0"/>
              <a:t>University</a:t>
            </a:r>
          </a:p>
          <a:p>
            <a:r>
              <a:rPr lang="ko-KR" altLang="en-US" dirty="0" err="1"/>
              <a:t>유가을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571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555FD6-10F7-D336-F334-E409C214D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548680"/>
            <a:ext cx="2095792" cy="82879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246C4D1-98DC-B595-5096-34DE6B1EE7E5}"/>
              </a:ext>
            </a:extLst>
          </p:cNvPr>
          <p:cNvSpPr/>
          <p:nvPr/>
        </p:nvSpPr>
        <p:spPr>
          <a:xfrm>
            <a:off x="479376" y="3429000"/>
            <a:ext cx="2808312" cy="763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23A3321-17F4-414E-848F-01581634151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83432" y="1700808"/>
            <a:ext cx="5616624" cy="1068806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ko-KR" altLang="en-US" sz="2000" dirty="0"/>
              <a:t>지난 발표 보완</a:t>
            </a:r>
            <a:endParaRPr lang="en-US" altLang="ko-KR" sz="2000" dirty="0"/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ko-KR" altLang="en-US" sz="2000" dirty="0"/>
              <a:t>상관분석 진행 과정 및 결과</a:t>
            </a:r>
            <a:endParaRPr lang="en-US" altLang="ko-KR" sz="2000" dirty="0"/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ko-KR" altLang="en-US" sz="2000" dirty="0" err="1"/>
              <a:t>군집별</a:t>
            </a:r>
            <a:r>
              <a:rPr lang="ko-KR" altLang="en-US" sz="2000" dirty="0"/>
              <a:t> 프로파일링</a:t>
            </a:r>
            <a:endParaRPr lang="en-US" altLang="ko-KR" sz="2000" dirty="0"/>
          </a:p>
          <a:p>
            <a:pPr marL="811213" lvl="1" indent="-457200">
              <a:lnSpc>
                <a:spcPct val="200000"/>
              </a:lnSpc>
              <a:buAutoNum type="arabicPeriod"/>
            </a:pPr>
            <a:r>
              <a:rPr lang="ko-KR" altLang="en-US" sz="2000" dirty="0"/>
              <a:t>디자인 속성 </a:t>
            </a:r>
            <a:r>
              <a:rPr lang="ko-KR" altLang="en-US" sz="2000" dirty="0" err="1"/>
              <a:t>카이제곱</a:t>
            </a:r>
            <a:r>
              <a:rPr lang="ko-KR" altLang="en-US" sz="2000" dirty="0"/>
              <a:t> 검정</a:t>
            </a:r>
            <a:endParaRPr lang="en-US" altLang="ko-KR" sz="2000" dirty="0"/>
          </a:p>
          <a:p>
            <a:pPr marL="811213" lvl="1" indent="-457200">
              <a:lnSpc>
                <a:spcPct val="200000"/>
              </a:lnSpc>
              <a:buAutoNum type="arabicPeriod"/>
            </a:pPr>
            <a:r>
              <a:rPr lang="ko-KR" altLang="en-US" sz="2000" dirty="0"/>
              <a:t>감성 </a:t>
            </a:r>
            <a:r>
              <a:rPr lang="en-US" altLang="ko-KR" sz="2000" dirty="0"/>
              <a:t>&amp; </a:t>
            </a:r>
            <a:r>
              <a:rPr lang="en-US" altLang="ko-KR" sz="2000" dirty="0" err="1"/>
              <a:t>Premo</a:t>
            </a:r>
            <a:r>
              <a:rPr lang="en-US" altLang="ko-KR" sz="2000" dirty="0"/>
              <a:t> ANOVA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ko-KR" altLang="en-US" sz="2000" dirty="0"/>
              <a:t>프로파일링 결론</a:t>
            </a:r>
            <a:endParaRPr lang="en-US" altLang="ko-KR" sz="2000" dirty="0"/>
          </a:p>
          <a:p>
            <a:pPr marL="811213" lvl="1" indent="-457200">
              <a:lnSpc>
                <a:spcPct val="200000"/>
              </a:lnSpc>
              <a:buAutoNum type="arabicPeriod"/>
            </a:pPr>
            <a:endParaRPr lang="en-US" altLang="ko-KR" sz="1700" dirty="0"/>
          </a:p>
        </p:txBody>
      </p:sp>
    </p:spTree>
    <p:extLst>
      <p:ext uri="{BB962C8B-B14F-4D97-AF65-F5344CB8AC3E}">
        <p14:creationId xmlns:p14="http://schemas.microsoft.com/office/powerpoint/2010/main" val="893520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지난 발표 보완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§"/>
            </a:pPr>
            <a:r>
              <a:rPr lang="en-US" altLang="ko-KR" sz="1600" dirty="0"/>
              <a:t>Positive </a:t>
            </a:r>
            <a:r>
              <a:rPr lang="ko-KR" altLang="en-US" sz="1600" dirty="0"/>
              <a:t>요인 </a:t>
            </a:r>
            <a:r>
              <a:rPr lang="en-US" altLang="ko-KR" sz="1600" b="0" dirty="0"/>
              <a:t>: Desire, Pleasant surprise, Amusement, Inspiration, Admiration, Satisfaction, Fascination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altLang="ko-KR" sz="1600" dirty="0"/>
              <a:t>Negative </a:t>
            </a:r>
            <a:r>
              <a:rPr lang="ko-KR" altLang="en-US" sz="1600" dirty="0"/>
              <a:t>요인 </a:t>
            </a:r>
            <a:r>
              <a:rPr lang="en-US" altLang="ko-KR" sz="1600" b="0" dirty="0"/>
              <a:t>: Indignation, Contempt, Disgust, Unpleasant surprise, Dissatisfaction, Disappointment, Boredom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1600" dirty="0"/>
              <a:t>혁신적인 디자인 요인 </a:t>
            </a:r>
            <a:r>
              <a:rPr lang="en-US" altLang="ko-KR" sz="1600" b="0" dirty="0"/>
              <a:t>: </a:t>
            </a:r>
            <a:r>
              <a:rPr lang="ko-KR" altLang="en-US" sz="1600" b="0" dirty="0"/>
              <a:t>첨단적인</a:t>
            </a:r>
            <a:r>
              <a:rPr lang="en-US" altLang="ko-KR" sz="1600" b="0" dirty="0"/>
              <a:t>, </a:t>
            </a:r>
            <a:r>
              <a:rPr lang="ko-KR" altLang="en-US" sz="1600" b="0" dirty="0" err="1"/>
              <a:t>컬러풀한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즐거운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튼튼한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아름다운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똑똑한</a:t>
            </a:r>
            <a:endParaRPr lang="en-US" altLang="ko-KR" sz="1600" b="0" dirty="0"/>
          </a:p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1600" dirty="0"/>
              <a:t>프리미엄 스타일 요인 </a:t>
            </a:r>
            <a:r>
              <a:rPr lang="en-US" altLang="ko-KR" sz="1600" b="0" dirty="0"/>
              <a:t>: </a:t>
            </a:r>
            <a:r>
              <a:rPr lang="ko-KR" altLang="en-US" sz="1600" b="0" dirty="0"/>
              <a:t>고급스러운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차별화된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세련된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깔끔한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실내 인테리어와 잘 어울리는</a:t>
            </a:r>
            <a:endParaRPr lang="en-US" altLang="ko-KR" sz="1600" b="0" dirty="0"/>
          </a:p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1600" dirty="0"/>
              <a:t>생활 편의성 요인 </a:t>
            </a:r>
            <a:r>
              <a:rPr lang="en-US" altLang="ko-KR" sz="1600" b="0" dirty="0"/>
              <a:t>: </a:t>
            </a:r>
            <a:r>
              <a:rPr lang="ko-KR" altLang="en-US" sz="1600" b="0" dirty="0"/>
              <a:t>편안한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친숙한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안정적인</a:t>
            </a:r>
            <a:r>
              <a:rPr lang="en-US" altLang="ko-KR" sz="1600" b="0" dirty="0"/>
              <a:t>, TV </a:t>
            </a:r>
            <a:r>
              <a:rPr lang="ko-KR" altLang="en-US" sz="1600" b="0" dirty="0"/>
              <a:t>보기에 적합한</a:t>
            </a:r>
            <a:endParaRPr lang="en-US" altLang="ko-KR" sz="1600" b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8CC906-11A6-BF78-32DA-718A4166F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696" y="2878096"/>
            <a:ext cx="5040560" cy="343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8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상관분석 진행 과정 및 결과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도구 </a:t>
            </a:r>
            <a:r>
              <a:rPr lang="en-US" altLang="ko-KR" sz="1800" b="0" dirty="0"/>
              <a:t>: IBM SPSS – </a:t>
            </a:r>
            <a:r>
              <a:rPr lang="ko-KR" altLang="en-US" sz="1800" b="0" dirty="0"/>
              <a:t>분석 </a:t>
            </a:r>
            <a:r>
              <a:rPr lang="en-US" altLang="ko-KR" sz="1800" b="0" dirty="0"/>
              <a:t>– </a:t>
            </a:r>
            <a:r>
              <a:rPr lang="ko-KR" altLang="en-US" sz="1800" b="0" dirty="0"/>
              <a:t>상관분석 </a:t>
            </a:r>
            <a:r>
              <a:rPr lang="en-US" altLang="ko-KR" sz="1800" b="0" dirty="0"/>
              <a:t>– </a:t>
            </a:r>
            <a:r>
              <a:rPr lang="ko-KR" altLang="en-US" sz="1800" b="0" dirty="0" err="1"/>
              <a:t>이변량</a:t>
            </a:r>
            <a:r>
              <a:rPr lang="ko-KR" altLang="en-US" sz="1800" b="0" dirty="0"/>
              <a:t> 상관계수</a:t>
            </a:r>
            <a:endParaRPr lang="en-US" altLang="ko-KR" sz="1800" b="0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목표 </a:t>
            </a:r>
            <a:r>
              <a:rPr lang="en-US" altLang="ko-KR" sz="1800" b="0" dirty="0"/>
              <a:t>: </a:t>
            </a:r>
            <a:r>
              <a:rPr lang="ko-KR" altLang="en-US" sz="1800" b="0" dirty="0"/>
              <a:t>전반적 평가 요소 </a:t>
            </a:r>
            <a:r>
              <a:rPr lang="en-US" altLang="ko-KR" sz="1800" b="0" dirty="0"/>
              <a:t>(</a:t>
            </a:r>
            <a:r>
              <a:rPr lang="ko-KR" altLang="en-US" sz="1800" b="0" dirty="0"/>
              <a:t>매력도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호감도</a:t>
            </a:r>
            <a:r>
              <a:rPr lang="en-US" altLang="ko-KR" sz="1800" b="0" dirty="0"/>
              <a:t>)</a:t>
            </a:r>
            <a:r>
              <a:rPr lang="ko-KR" altLang="en-US" sz="1800" b="0" dirty="0"/>
              <a:t>가 </a:t>
            </a:r>
            <a:r>
              <a:rPr lang="en-US" altLang="ko-KR" sz="1800" b="0" dirty="0" err="1"/>
              <a:t>Premo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감성 등과 연관성 있는지 확인</a:t>
            </a:r>
            <a:endParaRPr lang="en-US" altLang="ko-KR" sz="1800" b="0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진행 </a:t>
            </a:r>
            <a:r>
              <a:rPr lang="en-US" altLang="ko-KR" sz="1800" b="0" dirty="0"/>
              <a:t>: </a:t>
            </a:r>
          </a:p>
          <a:p>
            <a:pPr marL="0" indent="0" algn="l">
              <a:buNone/>
            </a:pPr>
            <a:r>
              <a:rPr lang="en-US" altLang="ko-KR" sz="1800" b="0" dirty="0"/>
              <a:t>	1. </a:t>
            </a:r>
            <a:r>
              <a:rPr lang="ko-KR" altLang="en-US" sz="1800" b="0" dirty="0"/>
              <a:t>메타데이터의 전반적 평가요소 평균인 </a:t>
            </a:r>
            <a:r>
              <a:rPr lang="en-US" altLang="ko-KR" sz="1800" b="0" dirty="0"/>
              <a:t>EV_AVGT, EV_AVG1, EV_AVG2</a:t>
            </a:r>
            <a:r>
              <a:rPr lang="ko-KR" altLang="en-US" sz="1800" b="0" dirty="0"/>
              <a:t>와 긍정 요인 평균인 </a:t>
            </a:r>
            <a:r>
              <a:rPr lang="en-US" altLang="ko-KR" sz="1800" b="0" dirty="0"/>
              <a:t>FT_E1, 	</a:t>
            </a:r>
            <a:r>
              <a:rPr lang="ko-KR" altLang="en-US" sz="1800" b="0" dirty="0"/>
              <a:t>부정 요소 평균인 </a:t>
            </a:r>
            <a:r>
              <a:rPr lang="en-US" altLang="ko-KR" sz="1800" b="0" dirty="0"/>
              <a:t>FT_E2, </a:t>
            </a:r>
            <a:r>
              <a:rPr lang="ko-KR" altLang="en-US" sz="1800" b="0" dirty="0"/>
              <a:t>혁신적 디자인 평균인 </a:t>
            </a:r>
            <a:r>
              <a:rPr lang="en-US" altLang="ko-KR" sz="1800" b="0" dirty="0"/>
              <a:t>FT_A1, </a:t>
            </a:r>
            <a:r>
              <a:rPr lang="ko-KR" altLang="en-US" sz="1800" b="0" dirty="0"/>
              <a:t>프리미엄 스타일 평균인 </a:t>
            </a:r>
            <a:r>
              <a:rPr lang="en-US" altLang="ko-KR" sz="1800" b="0" dirty="0"/>
              <a:t>FT_A2, </a:t>
            </a:r>
            <a:r>
              <a:rPr lang="ko-KR" altLang="en-US" sz="1800" b="0" dirty="0"/>
              <a:t>생활 편의</a:t>
            </a:r>
            <a:r>
              <a:rPr lang="en-US" altLang="ko-KR" sz="1800" b="0" dirty="0"/>
              <a:t>	</a:t>
            </a:r>
            <a:r>
              <a:rPr lang="ko-KR" altLang="en-US" sz="1800" b="0" dirty="0"/>
              <a:t>성 평균인 </a:t>
            </a:r>
            <a:r>
              <a:rPr lang="en-US" altLang="ko-KR" sz="1800" b="0" dirty="0"/>
              <a:t>FT_A3</a:t>
            </a:r>
            <a:r>
              <a:rPr lang="ko-KR" altLang="en-US" sz="1800" b="0" dirty="0"/>
              <a:t>를 분석 변수로 선택</a:t>
            </a:r>
            <a:endParaRPr lang="en-US" altLang="ko-KR" sz="1800" b="0" dirty="0"/>
          </a:p>
          <a:p>
            <a:pPr marL="0" indent="0" algn="l">
              <a:buNone/>
            </a:pPr>
            <a:r>
              <a:rPr lang="en-US" altLang="ko-KR" sz="1800" b="0" dirty="0"/>
              <a:t>	2. </a:t>
            </a:r>
            <a:r>
              <a:rPr lang="ko-KR" altLang="en-US" sz="1800" b="0" dirty="0"/>
              <a:t>상관계수는 </a:t>
            </a:r>
            <a:r>
              <a:rPr lang="en-US" altLang="ko-KR" sz="1800" b="0" dirty="0"/>
              <a:t>Pearson </a:t>
            </a:r>
            <a:r>
              <a:rPr lang="ko-KR" altLang="en-US" sz="1800" b="0" dirty="0"/>
              <a:t>기법을 활용하고 유의성 검정은 양측으로 진행함</a:t>
            </a:r>
            <a:br>
              <a:rPr lang="ko-KR" altLang="en-US" sz="1800" dirty="0"/>
            </a:br>
            <a:endParaRPr lang="en-US" altLang="ko-KR" sz="1800" dirty="0"/>
          </a:p>
          <a:p>
            <a:pPr algn="l">
              <a:buFont typeface="Wingdings" panose="05000000000000000000" pitchFamily="2" charset="2"/>
              <a:buChar char="§"/>
            </a:pPr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F2F293-2C23-A930-E86B-228E35994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076" y="3654067"/>
            <a:ext cx="3420558" cy="26250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0DB0EEC-4FD1-5C5C-1818-C7BB2F27C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907" y="3562052"/>
            <a:ext cx="3042163" cy="280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85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상관분석 진행 과정 및 결과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600" dirty="0"/>
              <a:t>분석 결과 </a:t>
            </a:r>
            <a:endParaRPr lang="en-US" altLang="ko-KR" sz="1600" b="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300" dirty="0"/>
              <a:t>유의확률은 모두 </a:t>
            </a:r>
            <a:r>
              <a:rPr lang="en-US" altLang="ko-KR" sz="1300" dirty="0"/>
              <a:t>0.05 </a:t>
            </a:r>
            <a:r>
              <a:rPr lang="ko-KR" altLang="en-US" sz="1300" dirty="0"/>
              <a:t>이하로 유의미하게 나왔음</a:t>
            </a:r>
            <a:endParaRPr lang="en-US" altLang="ko-KR" sz="13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3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300" dirty="0"/>
              <a:t>전반적 만족도 </a:t>
            </a:r>
            <a:r>
              <a:rPr lang="en-US" altLang="ko-KR" sz="1300" dirty="0"/>
              <a:t>(EV_AVGT)</a:t>
            </a:r>
            <a:r>
              <a:rPr lang="ko-KR" altLang="en-US" sz="1300" dirty="0"/>
              <a:t>와 각 </a:t>
            </a:r>
            <a:r>
              <a:rPr lang="ko-KR" altLang="en-US" sz="1300" dirty="0" err="1"/>
              <a:t>요인별</a:t>
            </a:r>
            <a:r>
              <a:rPr lang="ko-KR" altLang="en-US" sz="1300" dirty="0"/>
              <a:t> 평가의 </a:t>
            </a:r>
            <a:endParaRPr lang="en-US" altLang="ko-KR" sz="1300" dirty="0"/>
          </a:p>
          <a:p>
            <a:pPr marL="176213" lvl="1" indent="0">
              <a:buNone/>
            </a:pPr>
            <a:r>
              <a:rPr lang="ko-KR" altLang="en-US" sz="1300" dirty="0"/>
              <a:t>상관계수를</a:t>
            </a:r>
            <a:r>
              <a:rPr lang="en-US" altLang="ko-KR" sz="1300" dirty="0"/>
              <a:t> </a:t>
            </a:r>
            <a:r>
              <a:rPr lang="ko-KR" altLang="en-US" sz="1300" dirty="0"/>
              <a:t>살펴보면 </a:t>
            </a:r>
            <a:r>
              <a:rPr lang="en-US" altLang="ko-KR" sz="1300" dirty="0"/>
              <a:t>FT_E1 (</a:t>
            </a:r>
            <a:r>
              <a:rPr lang="ko-KR" altLang="en-US" sz="1300" dirty="0"/>
              <a:t>긍정 평가 평균</a:t>
            </a:r>
            <a:r>
              <a:rPr lang="en-US" altLang="ko-KR" sz="1300" dirty="0"/>
              <a:t>) </a:t>
            </a:r>
            <a:r>
              <a:rPr lang="ko-KR" altLang="en-US" sz="1300" dirty="0"/>
              <a:t>이 </a:t>
            </a:r>
            <a:endParaRPr lang="en-US" altLang="ko-KR" sz="1300" dirty="0"/>
          </a:p>
          <a:p>
            <a:pPr marL="176213" lvl="1" indent="0">
              <a:buNone/>
            </a:pPr>
            <a:r>
              <a:rPr lang="ko-KR" altLang="en-US" sz="1300" dirty="0"/>
              <a:t>가장 높은 양의 상관관계를 보였음</a:t>
            </a:r>
            <a:endParaRPr lang="en-US" altLang="ko-KR" sz="1300" dirty="0"/>
          </a:p>
          <a:p>
            <a:pPr marL="176213" lvl="1" indent="0">
              <a:buNone/>
            </a:pPr>
            <a:endParaRPr lang="en-US" altLang="ko-KR" sz="13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en-US" altLang="ko-KR" sz="1300" dirty="0"/>
              <a:t>FT_A1 (</a:t>
            </a:r>
            <a:r>
              <a:rPr lang="ko-KR" altLang="en-US" sz="1300" dirty="0"/>
              <a:t>혁신적인 디자인 평가 평균</a:t>
            </a:r>
            <a:r>
              <a:rPr lang="en-US" altLang="ko-KR" sz="1300" dirty="0"/>
              <a:t>) </a:t>
            </a:r>
            <a:r>
              <a:rPr lang="ko-KR" altLang="en-US" sz="1300" dirty="0"/>
              <a:t>과 </a:t>
            </a:r>
            <a:r>
              <a:rPr lang="en-US" altLang="ko-KR" sz="1300" dirty="0"/>
              <a:t>FT_A2</a:t>
            </a:r>
          </a:p>
          <a:p>
            <a:pPr marL="176213" lvl="1" indent="0">
              <a:buNone/>
            </a:pPr>
            <a:r>
              <a:rPr lang="en-US" altLang="ko-KR" sz="1300" dirty="0"/>
              <a:t>(</a:t>
            </a:r>
            <a:r>
              <a:rPr lang="ko-KR" altLang="en-US" sz="1300" dirty="0"/>
              <a:t>프리미엄 스타일 평가 평균</a:t>
            </a:r>
            <a:r>
              <a:rPr lang="en-US" altLang="ko-KR" sz="1300" dirty="0"/>
              <a:t>) </a:t>
            </a:r>
            <a:r>
              <a:rPr lang="ko-KR" altLang="en-US" sz="1300" dirty="0"/>
              <a:t>또한 높은 양의 상관</a:t>
            </a:r>
            <a:endParaRPr lang="en-US" altLang="ko-KR" sz="1300" dirty="0"/>
          </a:p>
          <a:p>
            <a:pPr marL="176213" lvl="1" indent="0">
              <a:buNone/>
            </a:pPr>
            <a:r>
              <a:rPr lang="ko-KR" altLang="en-US" sz="1300" dirty="0"/>
              <a:t>관계를 보임</a:t>
            </a:r>
            <a:endParaRPr lang="en-US" altLang="ko-KR" sz="1300" dirty="0"/>
          </a:p>
          <a:p>
            <a:pPr marL="176213" lvl="1" indent="0">
              <a:buNone/>
            </a:pPr>
            <a:endParaRPr lang="en-US" altLang="ko-KR" sz="13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300" dirty="0"/>
              <a:t>매력도 </a:t>
            </a:r>
            <a:r>
              <a:rPr lang="en-US" altLang="ko-KR" sz="1300" dirty="0"/>
              <a:t>(EV_AVG1) / </a:t>
            </a:r>
            <a:r>
              <a:rPr lang="ko-KR" altLang="en-US" sz="1300" dirty="0"/>
              <a:t>선호도 </a:t>
            </a:r>
            <a:r>
              <a:rPr lang="en-US" altLang="ko-KR" sz="1300" dirty="0"/>
              <a:t>(EV_AVG2)</a:t>
            </a:r>
            <a:r>
              <a:rPr lang="ko-KR" altLang="en-US" sz="1300" dirty="0"/>
              <a:t>와 </a:t>
            </a:r>
            <a:endParaRPr lang="en-US" altLang="ko-KR" sz="1300" dirty="0"/>
          </a:p>
          <a:p>
            <a:pPr marL="176213" lvl="1" indent="0">
              <a:buNone/>
            </a:pPr>
            <a:r>
              <a:rPr lang="ko-KR" altLang="en-US" sz="1300" dirty="0"/>
              <a:t>각 </a:t>
            </a:r>
            <a:r>
              <a:rPr lang="ko-KR" altLang="en-US" sz="1300" dirty="0" err="1"/>
              <a:t>요인별</a:t>
            </a:r>
            <a:r>
              <a:rPr lang="ko-KR" altLang="en-US" sz="1300" dirty="0"/>
              <a:t> 평가 상관계수를</a:t>
            </a:r>
            <a:r>
              <a:rPr lang="en-US" altLang="ko-KR" sz="1300" dirty="0"/>
              <a:t> </a:t>
            </a:r>
            <a:r>
              <a:rPr lang="ko-KR" altLang="en-US" sz="1300" dirty="0"/>
              <a:t>살펴보면 마찬가지로 </a:t>
            </a:r>
            <a:endParaRPr lang="en-US" altLang="ko-KR" sz="1300" dirty="0"/>
          </a:p>
          <a:p>
            <a:pPr marL="176213" lvl="1" indent="0">
              <a:buNone/>
            </a:pPr>
            <a:r>
              <a:rPr lang="en-US" altLang="ko-KR" sz="1300" dirty="0"/>
              <a:t>FT_E1 (</a:t>
            </a:r>
            <a:r>
              <a:rPr lang="ko-KR" altLang="en-US" sz="1300" dirty="0"/>
              <a:t>긍정 평가 평균</a:t>
            </a:r>
            <a:r>
              <a:rPr lang="en-US" altLang="ko-KR" sz="1300" dirty="0"/>
              <a:t>)</a:t>
            </a:r>
            <a:r>
              <a:rPr lang="ko-KR" altLang="en-US" sz="1300" dirty="0"/>
              <a:t>이</a:t>
            </a:r>
            <a:r>
              <a:rPr lang="en-US" altLang="ko-KR" sz="1300" dirty="0"/>
              <a:t> </a:t>
            </a:r>
            <a:r>
              <a:rPr lang="ko-KR" altLang="en-US" sz="1300" dirty="0"/>
              <a:t>가장 높은 양의 상관관계임</a:t>
            </a:r>
            <a:endParaRPr lang="en-US" altLang="ko-KR" sz="1300" dirty="0"/>
          </a:p>
          <a:p>
            <a:pPr marL="176213" lvl="1" indent="0">
              <a:buNone/>
            </a:pPr>
            <a:endParaRPr lang="en-US" altLang="ko-KR" sz="13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300" dirty="0"/>
              <a:t>위와 마찬가지로 두 변수 다 혁신적 디자인 </a:t>
            </a:r>
            <a:endParaRPr lang="en-US" altLang="ko-KR" sz="1300" dirty="0"/>
          </a:p>
          <a:p>
            <a:pPr marL="176213" lvl="1" indent="0">
              <a:buNone/>
            </a:pPr>
            <a:r>
              <a:rPr lang="ko-KR" altLang="en-US" sz="1300" dirty="0"/>
              <a:t>평가 평균과 프리미엄 스타일 평가 평균이 </a:t>
            </a:r>
            <a:endParaRPr lang="en-US" altLang="ko-KR" sz="1300" dirty="0"/>
          </a:p>
          <a:p>
            <a:pPr marL="176213" lvl="1" indent="0">
              <a:buNone/>
            </a:pPr>
            <a:r>
              <a:rPr lang="ko-KR" altLang="en-US" sz="1300" dirty="0"/>
              <a:t>높은 양의 상관관계</a:t>
            </a:r>
            <a:r>
              <a:rPr lang="en-US" altLang="ko-KR" sz="1300" dirty="0"/>
              <a:t> </a:t>
            </a:r>
            <a:r>
              <a:rPr lang="ko-KR" altLang="en-US" sz="1300" dirty="0"/>
              <a:t>보임</a:t>
            </a:r>
            <a:endParaRPr lang="en-US" altLang="ko-KR" sz="13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BE5BE1-8D12-0E0D-453F-243C2C9BC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784" y="1181850"/>
            <a:ext cx="5708824" cy="52714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05BDB063-EA6F-905C-D989-C3835C00F733}"/>
                  </a:ext>
                </a:extLst>
              </p14:cNvPr>
              <p14:cNvContentPartPr/>
              <p14:nvPr/>
            </p14:nvContentPartPr>
            <p14:xfrm>
              <a:off x="8958186" y="1718437"/>
              <a:ext cx="360" cy="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05BDB063-EA6F-905C-D989-C3835C00F7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04546" y="1610797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38856715-7361-16E8-0FF4-EFC210B93291}"/>
                  </a:ext>
                </a:extLst>
              </p14:cNvPr>
              <p14:cNvContentPartPr/>
              <p14:nvPr/>
            </p14:nvContentPartPr>
            <p14:xfrm>
              <a:off x="8958186" y="1706197"/>
              <a:ext cx="489600" cy="201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38856715-7361-16E8-0FF4-EFC210B932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04546" y="1598557"/>
                <a:ext cx="5972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D09DF68D-3A0D-EBB0-D1BE-ED096D1D0491}"/>
                  </a:ext>
                </a:extLst>
              </p14:cNvPr>
              <p14:cNvContentPartPr/>
              <p14:nvPr/>
            </p14:nvContentPartPr>
            <p14:xfrm>
              <a:off x="10010106" y="1689997"/>
              <a:ext cx="948600" cy="356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D09DF68D-3A0D-EBB0-D1BE-ED096D1D049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56466" y="1582357"/>
                <a:ext cx="105624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BBFA7137-E7AC-2971-6C45-779C5C5FC4CE}"/>
                  </a:ext>
                </a:extLst>
              </p14:cNvPr>
              <p14:cNvContentPartPr/>
              <p14:nvPr/>
            </p14:nvContentPartPr>
            <p14:xfrm>
              <a:off x="8979066" y="2247997"/>
              <a:ext cx="446760" cy="273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BBFA7137-E7AC-2971-6C45-779C5C5FC4C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25066" y="2139997"/>
                <a:ext cx="5544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0610C46E-F2EA-6DD3-4D67-ECB131EF71F4}"/>
                  </a:ext>
                </a:extLst>
              </p14:cNvPr>
              <p14:cNvContentPartPr/>
              <p14:nvPr/>
            </p14:nvContentPartPr>
            <p14:xfrm>
              <a:off x="9955026" y="2227117"/>
              <a:ext cx="1023480" cy="3924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0610C46E-F2EA-6DD3-4D67-ECB131EF71F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901026" y="2119477"/>
                <a:ext cx="11311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D521957A-F719-95D1-550E-0B016C927B59}"/>
                  </a:ext>
                </a:extLst>
              </p14:cNvPr>
              <p14:cNvContentPartPr/>
              <p14:nvPr/>
            </p14:nvContentPartPr>
            <p14:xfrm>
              <a:off x="10010106" y="2825437"/>
              <a:ext cx="946800" cy="6300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D521957A-F719-95D1-550E-0B016C927B5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956466" y="2717797"/>
                <a:ext cx="105444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8370FAF0-F23C-753D-3B46-26901FB8408A}"/>
                  </a:ext>
                </a:extLst>
              </p14:cNvPr>
              <p14:cNvContentPartPr/>
              <p14:nvPr/>
            </p14:nvContentPartPr>
            <p14:xfrm>
              <a:off x="8923986" y="2811757"/>
              <a:ext cx="506880" cy="5292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8370FAF0-F23C-753D-3B46-26901FB8408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69986" y="2704117"/>
                <a:ext cx="614520" cy="26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8198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상관분석 진행 과정 및 결과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결과 </a:t>
            </a:r>
            <a:endParaRPr lang="en-US" altLang="ko-KR" sz="1800" b="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상관계수를 </a:t>
            </a:r>
            <a:r>
              <a:rPr lang="ko-KR" altLang="en-US" sz="1600" dirty="0" err="1"/>
              <a:t>히트맵으로</a:t>
            </a:r>
            <a:r>
              <a:rPr lang="ko-KR" altLang="en-US" sz="1600" dirty="0"/>
              <a:t> 시각화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특이점 </a:t>
            </a:r>
            <a:r>
              <a:rPr lang="en-US" altLang="ko-KR" sz="1600" dirty="0"/>
              <a:t>:</a:t>
            </a:r>
          </a:p>
          <a:p>
            <a:pPr marL="649288" lvl="2" indent="-285750">
              <a:buFont typeface="Wingdings" panose="05000000000000000000" pitchFamily="2" charset="2"/>
              <a:buChar char="§"/>
            </a:pPr>
            <a:r>
              <a:rPr lang="en-US" altLang="ko-KR" sz="1500" dirty="0"/>
              <a:t>FT_E2 (</a:t>
            </a:r>
            <a:r>
              <a:rPr lang="ko-KR" altLang="en-US" sz="1500" dirty="0"/>
              <a:t>부정 평가 평균</a:t>
            </a:r>
            <a:r>
              <a:rPr lang="en-US" altLang="ko-KR" sz="1500" dirty="0"/>
              <a:t>)</a:t>
            </a:r>
            <a:r>
              <a:rPr lang="ko-KR" altLang="en-US" sz="1500" dirty="0"/>
              <a:t>의 상관계수가 낮게 나타남</a:t>
            </a:r>
            <a:endParaRPr lang="en-US" altLang="ko-KR" sz="1500" dirty="0"/>
          </a:p>
          <a:p>
            <a:pPr marL="649288" lvl="2" indent="-285750">
              <a:buFont typeface="Wingdings" panose="05000000000000000000" pitchFamily="2" charset="2"/>
              <a:buChar char="§"/>
            </a:pPr>
            <a:r>
              <a:rPr lang="ko-KR" altLang="en-US" sz="1500" dirty="0"/>
              <a:t>음수로 나타날 줄 알았으나 양의 상관관계로 </a:t>
            </a:r>
            <a:endParaRPr lang="en-US" altLang="ko-KR" sz="1500" dirty="0"/>
          </a:p>
          <a:p>
            <a:pPr marL="363538" lvl="2" indent="0">
              <a:buNone/>
            </a:pPr>
            <a:r>
              <a:rPr lang="ko-KR" altLang="en-US" sz="1500" dirty="0"/>
              <a:t>나타나고 있음</a:t>
            </a:r>
            <a:endParaRPr lang="en-US" altLang="ko-KR" sz="1500" dirty="0"/>
          </a:p>
          <a:p>
            <a:pPr marL="649288" lvl="2" indent="-285750">
              <a:buFont typeface="Wingdings" panose="05000000000000000000" pitchFamily="2" charset="2"/>
              <a:buChar char="§"/>
            </a:pPr>
            <a:r>
              <a:rPr lang="ko-KR" altLang="en-US" sz="1500" dirty="0"/>
              <a:t>다른 변수들에 비해 </a:t>
            </a:r>
            <a:r>
              <a:rPr lang="en-US" altLang="ko-KR" sz="1500" dirty="0"/>
              <a:t>FT_A3 (</a:t>
            </a:r>
            <a:r>
              <a:rPr lang="ko-KR" altLang="en-US" sz="1500" dirty="0"/>
              <a:t>생활 편의성</a:t>
            </a:r>
            <a:r>
              <a:rPr lang="en-US" altLang="ko-KR" sz="1500" dirty="0"/>
              <a:t>) </a:t>
            </a:r>
            <a:r>
              <a:rPr lang="ko-KR" altLang="en-US" sz="1500" dirty="0"/>
              <a:t>요인의</a:t>
            </a:r>
            <a:endParaRPr lang="en-US" altLang="ko-KR" sz="1500" dirty="0"/>
          </a:p>
          <a:p>
            <a:pPr marL="363538" lvl="2" indent="0">
              <a:buNone/>
            </a:pPr>
            <a:r>
              <a:rPr lang="ko-KR" altLang="en-US" sz="1500" dirty="0"/>
              <a:t>상관계수가 낮게 나타남</a:t>
            </a:r>
            <a:endParaRPr lang="en-US" altLang="ko-KR" sz="15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AB184-E8AE-B252-4B9C-E76172E3F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1341697"/>
            <a:ext cx="5726304" cy="496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167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 err="1"/>
              <a:t>군집별</a:t>
            </a:r>
            <a:r>
              <a:rPr lang="ko-KR" altLang="en-US" sz="2800" dirty="0"/>
              <a:t> 프로파일링 </a:t>
            </a:r>
            <a:r>
              <a:rPr lang="en-US" altLang="ko-KR" sz="2800" dirty="0"/>
              <a:t>– </a:t>
            </a:r>
            <a:r>
              <a:rPr lang="ko-KR" altLang="en-US" sz="2800" dirty="0"/>
              <a:t>디자인 속성 </a:t>
            </a:r>
            <a:r>
              <a:rPr lang="ko-KR" altLang="en-US" sz="2800" dirty="0" err="1"/>
              <a:t>카이제곱</a:t>
            </a:r>
            <a:r>
              <a:rPr lang="ko-KR" altLang="en-US" sz="2800" dirty="0"/>
              <a:t> 검정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도구 </a:t>
            </a:r>
            <a:r>
              <a:rPr lang="en-US" altLang="ko-KR" sz="1800" b="0" dirty="0"/>
              <a:t>: IBM SPSS – </a:t>
            </a:r>
            <a:r>
              <a:rPr lang="ko-KR" altLang="en-US" sz="1800" b="0" dirty="0"/>
              <a:t>분석 </a:t>
            </a:r>
            <a:r>
              <a:rPr lang="en-US" altLang="ko-KR" sz="1800" b="0" dirty="0"/>
              <a:t>– </a:t>
            </a:r>
            <a:r>
              <a:rPr lang="ko-KR" altLang="en-US" sz="1800" b="0" dirty="0"/>
              <a:t>기술 통계량 </a:t>
            </a:r>
            <a:r>
              <a:rPr lang="en-US" altLang="ko-KR" sz="1800" b="0" dirty="0"/>
              <a:t>– </a:t>
            </a:r>
            <a:r>
              <a:rPr lang="ko-KR" altLang="en-US" sz="1800" b="0" dirty="0"/>
              <a:t>교차분석</a:t>
            </a:r>
            <a:endParaRPr lang="en-US" altLang="ko-KR" sz="1800" b="0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진행 </a:t>
            </a:r>
            <a:r>
              <a:rPr lang="en-US" altLang="ko-KR" sz="1800" b="0" dirty="0"/>
              <a:t>: </a:t>
            </a:r>
          </a:p>
          <a:p>
            <a:pPr marL="0" indent="0" algn="l">
              <a:buNone/>
            </a:pPr>
            <a:r>
              <a:rPr lang="en-US" altLang="ko-KR" sz="1800" b="0" dirty="0"/>
              <a:t>	1. </a:t>
            </a:r>
            <a:r>
              <a:rPr lang="ko-KR" altLang="en-US" sz="1800" b="0" dirty="0"/>
              <a:t>독립변수로 각 디자인 요소를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종속 변수로 군집별로 나뉜 </a:t>
            </a:r>
            <a:r>
              <a:rPr lang="en-US" altLang="ko-KR" sz="1800" b="0" dirty="0"/>
              <a:t>TV </a:t>
            </a:r>
            <a:r>
              <a:rPr lang="ko-KR" altLang="en-US" sz="1800" b="0" dirty="0"/>
              <a:t>디자인을 채택함</a:t>
            </a:r>
            <a:endParaRPr lang="en-US" altLang="ko-KR" sz="1800" b="0" dirty="0"/>
          </a:p>
          <a:p>
            <a:pPr marL="0" indent="0" algn="l">
              <a:buNone/>
            </a:pPr>
            <a:r>
              <a:rPr lang="en-US" altLang="ko-KR" sz="1800" b="0" dirty="0"/>
              <a:t>	2. </a:t>
            </a:r>
            <a:r>
              <a:rPr lang="ko-KR" altLang="en-US" sz="1800" b="0" dirty="0"/>
              <a:t>군집 번호 교차표를 통해 해당 디자인 속성에 군집별로 얼마나 많은 케이스들이 있는지 확인</a:t>
            </a:r>
            <a:endParaRPr lang="en-US" altLang="ko-KR" sz="1800" b="0" dirty="0"/>
          </a:p>
          <a:p>
            <a:pPr marL="0" indent="0" algn="l">
              <a:buNone/>
            </a:pPr>
            <a:r>
              <a:rPr lang="en-US" altLang="ko-KR" sz="1800" b="0" dirty="0">
                <a:highlight>
                  <a:srgbClr val="FFFFFF"/>
                </a:highlight>
              </a:rPr>
              <a:t>	3. </a:t>
            </a:r>
            <a:r>
              <a:rPr lang="ko-KR" altLang="en-US" sz="1800" b="0" dirty="0" err="1">
                <a:highlight>
                  <a:srgbClr val="FFFFFF"/>
                </a:highlight>
              </a:rPr>
              <a:t>카이제곱</a:t>
            </a:r>
            <a:r>
              <a:rPr lang="ko-KR" altLang="en-US" sz="1800" b="0" dirty="0">
                <a:highlight>
                  <a:srgbClr val="FFFFFF"/>
                </a:highlight>
              </a:rPr>
              <a:t> 검정 표를 통해 유의확률 확인</a:t>
            </a:r>
            <a:br>
              <a:rPr lang="ko-KR" altLang="en-US" sz="1800" dirty="0"/>
            </a:br>
            <a:endParaRPr lang="en-US" altLang="ko-KR" sz="1800" dirty="0"/>
          </a:p>
          <a:p>
            <a:pPr algn="l">
              <a:buFont typeface="Wingdings" panose="05000000000000000000" pitchFamily="2" charset="2"/>
              <a:buChar char="§"/>
            </a:pPr>
            <a:endParaRPr lang="en-US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B33568-3938-4BB6-2E6E-39DF7DAF6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3437990"/>
            <a:ext cx="3042820" cy="25112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FB97C9-2A2F-780E-D435-5A88F2776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505" y="3981471"/>
            <a:ext cx="3765719" cy="143180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3E62144-6466-6790-3581-4B11BB571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6493" y="3693439"/>
            <a:ext cx="3278011" cy="192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2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 err="1"/>
              <a:t>군집별</a:t>
            </a:r>
            <a:r>
              <a:rPr lang="ko-KR" altLang="en-US" sz="2800" dirty="0"/>
              <a:t> 프로파일링 </a:t>
            </a:r>
            <a:r>
              <a:rPr lang="en-US" altLang="ko-KR" sz="2800" dirty="0"/>
              <a:t>- </a:t>
            </a:r>
            <a:r>
              <a:rPr lang="ko-KR" altLang="en-US" sz="2800" dirty="0"/>
              <a:t>디자인 속성 </a:t>
            </a:r>
            <a:r>
              <a:rPr lang="ko-KR" altLang="en-US" sz="2800" dirty="0" err="1"/>
              <a:t>카이제곱</a:t>
            </a:r>
            <a:r>
              <a:rPr lang="ko-KR" altLang="en-US" sz="2800" dirty="0"/>
              <a:t> 검정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결과 </a:t>
            </a:r>
            <a:endParaRPr lang="en-US" altLang="ko-KR" sz="1800" b="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유의확률 </a:t>
            </a:r>
            <a:r>
              <a:rPr lang="en-US" altLang="ko-KR" sz="1600" dirty="0"/>
              <a:t>0.05 </a:t>
            </a:r>
            <a:r>
              <a:rPr lang="ko-KR" altLang="en-US" sz="1600" dirty="0"/>
              <a:t>이상인 디스플레이 색상</a:t>
            </a:r>
            <a:r>
              <a:rPr lang="en-US" altLang="ko-KR" sz="1600" dirty="0"/>
              <a:t>, </a:t>
            </a:r>
            <a:r>
              <a:rPr lang="ko-KR" altLang="en-US" sz="1600" dirty="0"/>
              <a:t>스탠드 두께는 군집을 나누기에 독립적인 변수가 될 수 없음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외관 유형의 경우 군집</a:t>
            </a:r>
            <a:r>
              <a:rPr lang="en-US" altLang="ko-KR" sz="1600" dirty="0"/>
              <a:t>1</a:t>
            </a:r>
            <a:r>
              <a:rPr lang="ko-KR" altLang="en-US" sz="1600" dirty="0"/>
              <a:t>과 군집</a:t>
            </a:r>
            <a:r>
              <a:rPr lang="en-US" altLang="ko-KR" sz="1600" dirty="0"/>
              <a:t>4</a:t>
            </a:r>
            <a:r>
              <a:rPr lang="ko-KR" altLang="en-US" sz="1600" dirty="0"/>
              <a:t>가 사각형의 형태로 군집 </a:t>
            </a:r>
            <a:r>
              <a:rPr lang="en-US" altLang="ko-KR" sz="1600" dirty="0"/>
              <a:t>2, 3</a:t>
            </a:r>
            <a:r>
              <a:rPr lang="ko-KR" altLang="en-US" sz="1600" dirty="0"/>
              <a:t>이 각각 구형</a:t>
            </a:r>
            <a:r>
              <a:rPr lang="en-US" altLang="ko-KR" sz="1600" dirty="0"/>
              <a:t>, </a:t>
            </a:r>
            <a:r>
              <a:rPr lang="ko-KR" altLang="en-US" sz="1600" dirty="0"/>
              <a:t>박스형의 형태로 나뉨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프레임 색상의 경우 군집 </a:t>
            </a:r>
            <a:r>
              <a:rPr lang="en-US" altLang="ko-KR" sz="1600" dirty="0"/>
              <a:t>1, 4</a:t>
            </a:r>
            <a:r>
              <a:rPr lang="ko-KR" altLang="en-US" sz="1600" dirty="0"/>
              <a:t>가 </a:t>
            </a:r>
            <a:r>
              <a:rPr lang="en-US" altLang="ko-KR" sz="1600" dirty="0"/>
              <a:t>Black / </a:t>
            </a:r>
            <a:r>
              <a:rPr lang="ko-KR" altLang="en-US" sz="1600" dirty="0"/>
              <a:t>군집 </a:t>
            </a:r>
            <a:r>
              <a:rPr lang="en-US" altLang="ko-KR" sz="1600" dirty="0"/>
              <a:t>2, 3</a:t>
            </a:r>
            <a:r>
              <a:rPr lang="ko-KR" altLang="en-US" sz="1600" dirty="0"/>
              <a:t>이</a:t>
            </a:r>
            <a:r>
              <a:rPr lang="en-US" altLang="ko-KR" sz="1600" dirty="0"/>
              <a:t> </a:t>
            </a:r>
            <a:r>
              <a:rPr lang="ko-KR" altLang="en-US" sz="1600" dirty="0"/>
              <a:t>각각 </a:t>
            </a:r>
            <a:r>
              <a:rPr lang="en-US" altLang="ko-KR" sz="1600" dirty="0"/>
              <a:t>White, </a:t>
            </a:r>
            <a:r>
              <a:rPr lang="ko-KR" altLang="en-US" sz="1600" dirty="0"/>
              <a:t>기타로 나뉨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프레임 두께의 경우 군집 </a:t>
            </a:r>
            <a:r>
              <a:rPr lang="en-US" altLang="ko-KR" sz="1600" dirty="0"/>
              <a:t>1</a:t>
            </a:r>
            <a:r>
              <a:rPr lang="ko-KR" altLang="en-US" sz="1600" dirty="0"/>
              <a:t>은 얇은 것과 두꺼운 것이 </a:t>
            </a:r>
            <a:r>
              <a:rPr lang="ko-KR" altLang="en-US" sz="1600" dirty="0" err="1"/>
              <a:t>반씩</a:t>
            </a:r>
            <a:r>
              <a:rPr lang="ko-KR" altLang="en-US" sz="1600" dirty="0"/>
              <a:t> 섞여 있는 군집으로</a:t>
            </a:r>
            <a:r>
              <a:rPr lang="en-US" altLang="ko-KR" sz="1600" dirty="0"/>
              <a:t>, </a:t>
            </a:r>
            <a:r>
              <a:rPr lang="ko-KR" altLang="en-US" sz="1600" dirty="0"/>
              <a:t>군집 </a:t>
            </a:r>
            <a:r>
              <a:rPr lang="en-US" altLang="ko-KR" sz="1600" dirty="0"/>
              <a:t>2</a:t>
            </a:r>
            <a:r>
              <a:rPr lang="ko-KR" altLang="en-US" sz="1600" dirty="0"/>
              <a:t>는 두꺼운</a:t>
            </a:r>
            <a:r>
              <a:rPr lang="en-US" altLang="ko-KR" sz="1600" dirty="0"/>
              <a:t>, </a:t>
            </a:r>
            <a:r>
              <a:rPr lang="ko-KR" altLang="en-US" sz="1600" dirty="0"/>
              <a:t>군집 </a:t>
            </a:r>
            <a:r>
              <a:rPr lang="en-US" altLang="ko-KR" sz="1600" dirty="0"/>
              <a:t>3</a:t>
            </a:r>
            <a:r>
              <a:rPr lang="ko-KR" altLang="en-US" sz="1600" dirty="0"/>
              <a:t>은 얇은</a:t>
            </a:r>
            <a:r>
              <a:rPr lang="en-US" altLang="ko-KR" sz="1600" dirty="0"/>
              <a:t>, </a:t>
            </a:r>
            <a:r>
              <a:rPr lang="ko-KR" altLang="en-US" sz="1600" dirty="0"/>
              <a:t>군집 </a:t>
            </a:r>
            <a:r>
              <a:rPr lang="en-US" altLang="ko-KR" sz="1600" dirty="0"/>
              <a:t>4</a:t>
            </a:r>
            <a:r>
              <a:rPr lang="ko-KR" altLang="en-US" sz="1600" dirty="0"/>
              <a:t>는 거의 </a:t>
            </a:r>
            <a:r>
              <a:rPr lang="en-US" altLang="ko-KR" sz="1600" dirty="0"/>
              <a:t>0</a:t>
            </a:r>
            <a:r>
              <a:rPr lang="ko-KR" altLang="en-US" sz="1600" dirty="0"/>
              <a:t>에 가까운 것으로 나타남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B2BABC-A9C8-393F-AE4E-D0A1714FC7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8"/>
          <a:stretch/>
        </p:blipFill>
        <p:spPr>
          <a:xfrm>
            <a:off x="2279576" y="3140968"/>
            <a:ext cx="8148711" cy="32918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ECA75DF-8BF3-0B67-8AB4-7228F9E4CC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154"/>
          <a:stretch/>
        </p:blipFill>
        <p:spPr>
          <a:xfrm>
            <a:off x="2279576" y="6432779"/>
            <a:ext cx="4392488" cy="23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35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 err="1"/>
              <a:t>군집별</a:t>
            </a:r>
            <a:r>
              <a:rPr lang="ko-KR" altLang="en-US" sz="2800" dirty="0"/>
              <a:t> 프로파일링 </a:t>
            </a:r>
            <a:r>
              <a:rPr lang="en-US" altLang="ko-KR" sz="2800" dirty="0"/>
              <a:t>- </a:t>
            </a:r>
            <a:r>
              <a:rPr lang="ko-KR" altLang="en-US" sz="2800" dirty="0"/>
              <a:t>디자인 속성 </a:t>
            </a:r>
            <a:r>
              <a:rPr lang="ko-KR" altLang="en-US" sz="2800" dirty="0" err="1"/>
              <a:t>카이제곱</a:t>
            </a:r>
            <a:r>
              <a:rPr lang="ko-KR" altLang="en-US" sz="2800" dirty="0"/>
              <a:t> 검정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결과 </a:t>
            </a:r>
            <a:endParaRPr lang="en-US" altLang="ko-KR" sz="1800" b="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옆면 두께의 경우 군집 </a:t>
            </a:r>
            <a:r>
              <a:rPr lang="en-US" altLang="ko-KR" sz="1600" dirty="0"/>
              <a:t>1</a:t>
            </a:r>
            <a:r>
              <a:rPr lang="ko-KR" altLang="en-US" sz="1600" dirty="0"/>
              <a:t>과 군집 </a:t>
            </a:r>
            <a:r>
              <a:rPr lang="en-US" altLang="ko-KR" sz="1600" dirty="0"/>
              <a:t>4</a:t>
            </a:r>
            <a:r>
              <a:rPr lang="ko-KR" altLang="en-US" sz="1600" dirty="0"/>
              <a:t>는 얇은 것을 포함하며</a:t>
            </a:r>
            <a:r>
              <a:rPr lang="en-US" altLang="ko-KR" sz="1600" dirty="0"/>
              <a:t>, </a:t>
            </a:r>
            <a:r>
              <a:rPr lang="ko-KR" altLang="en-US" sz="1600" dirty="0"/>
              <a:t>군집 </a:t>
            </a:r>
            <a:r>
              <a:rPr lang="en-US" altLang="ko-KR" sz="1600" dirty="0"/>
              <a:t>2</a:t>
            </a:r>
            <a:r>
              <a:rPr lang="ko-KR" altLang="en-US" sz="1600" dirty="0"/>
              <a:t>와 </a:t>
            </a:r>
            <a:r>
              <a:rPr lang="en-US" altLang="ko-KR" sz="1600" dirty="0"/>
              <a:t>3</a:t>
            </a:r>
            <a:r>
              <a:rPr lang="ko-KR" altLang="en-US" sz="1600" dirty="0"/>
              <a:t>은 두꺼운 디자인으로 구분됨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스탠드 받침 모양의 경우 군집 </a:t>
            </a:r>
            <a:r>
              <a:rPr lang="en-US" altLang="ko-KR" sz="1600" dirty="0"/>
              <a:t>1</a:t>
            </a:r>
            <a:r>
              <a:rPr lang="ko-KR" altLang="en-US" sz="1600" dirty="0"/>
              <a:t>과 </a:t>
            </a:r>
            <a:r>
              <a:rPr lang="en-US" altLang="ko-KR" sz="1600" dirty="0"/>
              <a:t>4</a:t>
            </a:r>
            <a:r>
              <a:rPr lang="ko-KR" altLang="en-US" sz="1600" dirty="0"/>
              <a:t>는 사각형 받침을 다수 포함하고 있고 군집 </a:t>
            </a:r>
            <a:r>
              <a:rPr lang="en-US" altLang="ko-KR" sz="1600" dirty="0"/>
              <a:t>2</a:t>
            </a:r>
            <a:r>
              <a:rPr lang="ko-KR" altLang="en-US" sz="1600" dirty="0"/>
              <a:t>와 </a:t>
            </a:r>
            <a:r>
              <a:rPr lang="en-US" altLang="ko-KR" sz="1600" dirty="0"/>
              <a:t>3</a:t>
            </a:r>
            <a:r>
              <a:rPr lang="ko-KR" altLang="en-US" sz="1600" dirty="0"/>
              <a:t>은 다리 형태의 받침을 가장 많이 포함하고 있음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스탠드 두께의 경우 군집 </a:t>
            </a:r>
            <a:r>
              <a:rPr lang="en-US" altLang="ko-KR" sz="1600" dirty="0"/>
              <a:t>1</a:t>
            </a:r>
            <a:r>
              <a:rPr lang="ko-KR" altLang="en-US" sz="1600" dirty="0"/>
              <a:t>과 </a:t>
            </a:r>
            <a:r>
              <a:rPr lang="en-US" altLang="ko-KR" sz="1600" dirty="0"/>
              <a:t>2</a:t>
            </a:r>
            <a:r>
              <a:rPr lang="ko-KR" altLang="en-US" sz="1600" dirty="0"/>
              <a:t>가 두꺼운 디자인을 포함하며</a:t>
            </a:r>
            <a:r>
              <a:rPr lang="en-US" altLang="ko-KR" sz="1600" dirty="0"/>
              <a:t>, </a:t>
            </a:r>
            <a:r>
              <a:rPr lang="ko-KR" altLang="en-US" sz="1600" dirty="0"/>
              <a:t>군집 </a:t>
            </a:r>
            <a:r>
              <a:rPr lang="en-US" altLang="ko-KR" sz="1600" dirty="0"/>
              <a:t>3</a:t>
            </a:r>
            <a:r>
              <a:rPr lang="ko-KR" altLang="en-US" sz="1600" dirty="0"/>
              <a:t>과 </a:t>
            </a:r>
            <a:r>
              <a:rPr lang="en-US" altLang="ko-KR" sz="1600" dirty="0"/>
              <a:t>4</a:t>
            </a:r>
            <a:r>
              <a:rPr lang="ko-KR" altLang="en-US" sz="1600" dirty="0"/>
              <a:t>는 얇은 두께의 스탠드를 가지고 있음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군집 </a:t>
            </a:r>
            <a:r>
              <a:rPr lang="en-US" altLang="ko-KR" sz="1600" dirty="0"/>
              <a:t>2</a:t>
            </a:r>
            <a:r>
              <a:rPr lang="ko-KR" altLang="en-US" sz="1600" dirty="0"/>
              <a:t>만 안테나가 있는 </a:t>
            </a:r>
            <a:r>
              <a:rPr lang="en-US" altLang="ko-KR" sz="1600" dirty="0"/>
              <a:t>TV </a:t>
            </a:r>
            <a:r>
              <a:rPr lang="ko-KR" altLang="en-US" sz="1600" dirty="0"/>
              <a:t>디자인을 다수 포함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군집 </a:t>
            </a:r>
            <a:r>
              <a:rPr lang="en-US" altLang="ko-KR" sz="1600" dirty="0"/>
              <a:t>3</a:t>
            </a:r>
            <a:r>
              <a:rPr lang="ko-KR" altLang="en-US" sz="1600" dirty="0"/>
              <a:t>만 버튼이 있는 </a:t>
            </a:r>
            <a:r>
              <a:rPr lang="en-US" altLang="ko-KR" sz="1600" dirty="0"/>
              <a:t>TV</a:t>
            </a:r>
            <a:r>
              <a:rPr lang="ko-KR" altLang="en-US" sz="1600" dirty="0"/>
              <a:t> 디자인을 다수 포함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5DAA48-A7FE-AB0E-7DF0-18C9B99B8B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8"/>
          <a:stretch/>
        </p:blipFill>
        <p:spPr>
          <a:xfrm>
            <a:off x="2423592" y="3486271"/>
            <a:ext cx="7344816" cy="296706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0FC594B-C384-28B6-9A68-B4C7A9809B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154"/>
          <a:stretch/>
        </p:blipFill>
        <p:spPr>
          <a:xfrm>
            <a:off x="2423591" y="6476674"/>
            <a:ext cx="3959156" cy="21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09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 fontScale="90000"/>
          </a:bodyPr>
          <a:lstStyle/>
          <a:p>
            <a:r>
              <a:rPr lang="ko-KR" altLang="en-US" sz="2800" dirty="0" err="1"/>
              <a:t>군집별</a:t>
            </a:r>
            <a:r>
              <a:rPr lang="ko-KR" altLang="en-US" sz="2800" dirty="0"/>
              <a:t> 프로파일링 </a:t>
            </a:r>
            <a:r>
              <a:rPr lang="en-US" altLang="ko-KR" sz="2800" dirty="0"/>
              <a:t>– </a:t>
            </a:r>
            <a:r>
              <a:rPr lang="ko-KR" altLang="en-US" sz="2800" dirty="0"/>
              <a:t>감성</a:t>
            </a:r>
            <a:r>
              <a:rPr lang="en-US" altLang="ko-KR" sz="2800" dirty="0"/>
              <a:t>&amp;</a:t>
            </a:r>
            <a:r>
              <a:rPr lang="en-US" altLang="ko-KR" sz="2800" dirty="0" err="1"/>
              <a:t>Premo</a:t>
            </a:r>
            <a:r>
              <a:rPr lang="en-US" altLang="ko-KR" sz="2800" dirty="0"/>
              <a:t> ANOVA</a:t>
            </a:r>
            <a:br>
              <a:rPr lang="en-US" altLang="ko-KR" sz="2800" dirty="0"/>
            </a:br>
            <a:endParaRPr lang="ko-KR" altLang="en-US" sz="2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도구 </a:t>
            </a:r>
            <a:r>
              <a:rPr lang="en-US" altLang="ko-KR" sz="1800" b="0" dirty="0"/>
              <a:t>: IBM SPSS – </a:t>
            </a:r>
            <a:r>
              <a:rPr lang="ko-KR" altLang="en-US" sz="1800" b="0" dirty="0"/>
              <a:t>분석 </a:t>
            </a:r>
            <a:r>
              <a:rPr lang="en-US" altLang="ko-KR" sz="1800" b="0" dirty="0"/>
              <a:t>– </a:t>
            </a:r>
            <a:r>
              <a:rPr lang="ko-KR" altLang="en-US" sz="1800" b="0" dirty="0"/>
              <a:t>평균 비교 </a:t>
            </a:r>
            <a:r>
              <a:rPr lang="en-US" altLang="ko-KR" sz="1800" b="0" dirty="0"/>
              <a:t>– </a:t>
            </a:r>
            <a:r>
              <a:rPr lang="ko-KR" altLang="en-US" sz="1800" b="0" dirty="0"/>
              <a:t>일원배치 분산분석</a:t>
            </a:r>
            <a:endParaRPr lang="en-US" altLang="ko-KR" sz="1800" b="0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진행 </a:t>
            </a:r>
            <a:r>
              <a:rPr lang="en-US" altLang="ko-KR" sz="1800" b="0" dirty="0"/>
              <a:t>: </a:t>
            </a:r>
          </a:p>
          <a:p>
            <a:pPr marL="0" indent="0" algn="l">
              <a:buNone/>
            </a:pPr>
            <a:r>
              <a:rPr lang="en-US" altLang="ko-KR" sz="1800" b="0" dirty="0"/>
              <a:t>	1. </a:t>
            </a:r>
            <a:r>
              <a:rPr lang="ko-KR" altLang="en-US" sz="1800" b="0" dirty="0"/>
              <a:t>종속변수로 감성 평균 </a:t>
            </a:r>
            <a:r>
              <a:rPr lang="en-US" altLang="ko-KR" sz="1800" b="0" dirty="0"/>
              <a:t>(A1_AVG~A15_AVG) / </a:t>
            </a:r>
            <a:r>
              <a:rPr lang="en-US" altLang="ko-KR" sz="1800" b="0" dirty="0" err="1"/>
              <a:t>Premo</a:t>
            </a:r>
            <a:r>
              <a:rPr lang="en-US" altLang="ko-KR" sz="1800" b="0" dirty="0"/>
              <a:t> </a:t>
            </a:r>
            <a:r>
              <a:rPr lang="ko-KR" altLang="en-US" sz="1800" b="0" dirty="0"/>
              <a:t>평균 </a:t>
            </a:r>
            <a:r>
              <a:rPr lang="en-US" altLang="ko-KR" sz="1800" b="0" dirty="0"/>
              <a:t>(E1_AVG~E14_AVG) / </a:t>
            </a:r>
            <a:r>
              <a:rPr lang="ko-KR" altLang="en-US" sz="1800" b="0" dirty="0" err="1"/>
              <a:t>요인별</a:t>
            </a:r>
            <a:r>
              <a:rPr lang="ko-KR" altLang="en-US" sz="1800" b="0" dirty="0"/>
              <a:t> 평균 </a:t>
            </a:r>
            <a:r>
              <a:rPr lang="en-US" altLang="ko-KR" sz="1800" b="0" dirty="0"/>
              <a:t>	(FT_E1, FT_E2, FT_A1, FT_A2, FT_A3) / </a:t>
            </a:r>
            <a:r>
              <a:rPr lang="ko-KR" altLang="en-US" sz="1800" b="0" dirty="0"/>
              <a:t>전반적 만족도 평균 </a:t>
            </a:r>
            <a:r>
              <a:rPr lang="en-US" altLang="ko-KR" sz="1800" b="0" dirty="0"/>
              <a:t>(EV_AVGT, EV_AVG1, EV_AVG2) </a:t>
            </a:r>
            <a:r>
              <a:rPr lang="ko-KR" altLang="en-US" sz="1800" b="0" dirty="0"/>
              <a:t>선택하</a:t>
            </a:r>
            <a:r>
              <a:rPr lang="en-US" altLang="ko-KR" sz="1800" b="0" dirty="0"/>
              <a:t>	</a:t>
            </a:r>
            <a:r>
              <a:rPr lang="ko-KR" altLang="en-US" sz="1800" b="0" dirty="0"/>
              <a:t>고 요인으로 케이스 군집 번호 선택</a:t>
            </a:r>
            <a:endParaRPr lang="en-US" altLang="ko-KR" sz="1800" b="0" dirty="0"/>
          </a:p>
          <a:p>
            <a:pPr marL="0" indent="0" algn="l">
              <a:buNone/>
            </a:pPr>
            <a:r>
              <a:rPr lang="en-US" altLang="ko-KR" sz="1800" b="0" dirty="0"/>
              <a:t>	2. </a:t>
            </a:r>
            <a:r>
              <a:rPr lang="ko-KR" altLang="en-US" sz="1800" b="0" dirty="0"/>
              <a:t>사후 검정 기법으로 </a:t>
            </a:r>
            <a:r>
              <a:rPr lang="en-US" altLang="ko-KR" sz="1800" b="0" dirty="0"/>
              <a:t>Bonferroni </a:t>
            </a:r>
            <a:r>
              <a:rPr lang="ko-KR" altLang="en-US" sz="1800" b="0" dirty="0"/>
              <a:t>선택</a:t>
            </a:r>
            <a:endParaRPr lang="en-US" altLang="ko-KR" sz="1800" b="0" dirty="0"/>
          </a:p>
          <a:p>
            <a:pPr marL="0" indent="0" algn="l">
              <a:buNone/>
            </a:pPr>
            <a:r>
              <a:rPr lang="en-US" altLang="ko-KR" sz="1800" b="0" dirty="0"/>
              <a:t>	</a:t>
            </a:r>
            <a:r>
              <a:rPr lang="en-US" altLang="ko-KR" sz="1200" b="0" dirty="0"/>
              <a:t>*Bonferroni : </a:t>
            </a:r>
            <a:r>
              <a:rPr lang="ko-KR" altLang="en-US" sz="1200" b="0" dirty="0"/>
              <a:t>다중 비교</a:t>
            </a:r>
            <a:r>
              <a:rPr lang="en-US" altLang="ko-KR" sz="1200" b="0" dirty="0"/>
              <a:t>(multiple comparisons)</a:t>
            </a:r>
            <a:r>
              <a:rPr lang="ko-KR" altLang="en-US" sz="1200" b="0" dirty="0"/>
              <a:t>를 할 때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각각의 개별 테스트가 유의미한 결과를 </a:t>
            </a:r>
            <a:br>
              <a:rPr lang="en-US" altLang="ko-KR" sz="1200" b="0" dirty="0"/>
            </a:br>
            <a:r>
              <a:rPr lang="en-US" altLang="ko-KR" sz="1200" b="0" dirty="0"/>
              <a:t>	</a:t>
            </a:r>
            <a:r>
              <a:rPr lang="ko-KR" altLang="en-US" sz="1200" b="0" dirty="0"/>
              <a:t>내기 위한 유의수준을 조정함으로써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전체 오류의 가능성을 줄이기 위한 방법</a:t>
            </a:r>
            <a:endParaRPr lang="en-US" altLang="ko-KR" sz="1200" b="0" dirty="0"/>
          </a:p>
          <a:p>
            <a:pPr marL="0" indent="0" algn="l">
              <a:buNone/>
            </a:pPr>
            <a:r>
              <a:rPr lang="en-US" altLang="ko-KR" sz="1800" b="0" dirty="0"/>
              <a:t>	3. </a:t>
            </a:r>
            <a:r>
              <a:rPr lang="ko-KR" altLang="en-US" sz="1800" b="0" dirty="0"/>
              <a:t>기술 통계로 </a:t>
            </a:r>
            <a:r>
              <a:rPr lang="ko-KR" altLang="en-US" sz="1800" b="0" dirty="0" err="1"/>
              <a:t>군집별</a:t>
            </a:r>
            <a:r>
              <a:rPr lang="ko-KR" altLang="en-US" sz="1800" b="0" dirty="0"/>
              <a:t> 평균 확인하고 </a:t>
            </a:r>
            <a:r>
              <a:rPr lang="en-US" altLang="ko-KR" sz="1800" b="0" dirty="0"/>
              <a:t>ANOVA</a:t>
            </a:r>
            <a:r>
              <a:rPr lang="ko-KR" altLang="en-US" sz="1800" b="0" dirty="0"/>
              <a:t>로 유의확률 확인</a:t>
            </a:r>
            <a:r>
              <a:rPr lang="en-US" altLang="ko-KR" sz="1800" b="0" dirty="0">
                <a:highlight>
                  <a:srgbClr val="FFFFFF"/>
                </a:highlight>
              </a:rPr>
              <a:t>	</a:t>
            </a:r>
          </a:p>
          <a:p>
            <a:pPr marL="0" indent="0" algn="l">
              <a:buNone/>
            </a:pPr>
            <a:r>
              <a:rPr lang="en-US" altLang="ko-KR" sz="1800" b="0" dirty="0">
                <a:highlight>
                  <a:srgbClr val="FFFFFF"/>
                </a:highlight>
              </a:rPr>
              <a:t>	</a:t>
            </a:r>
            <a:br>
              <a:rPr lang="ko-KR" altLang="en-US" sz="1800" dirty="0"/>
            </a:br>
            <a:endParaRPr lang="en-US" altLang="ko-KR" sz="1800" dirty="0"/>
          </a:p>
          <a:p>
            <a:pPr algn="l">
              <a:buFont typeface="Wingdings" panose="05000000000000000000" pitchFamily="2" charset="2"/>
              <a:buChar char="§"/>
            </a:pPr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52DE64-6072-1195-B7DC-79793DA33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4257092"/>
            <a:ext cx="3359575" cy="19144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F000EC3-2A6F-729F-D204-451C1F23C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599" y="4257092"/>
            <a:ext cx="3437120" cy="19144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B62178E-5F73-87C6-B66E-C4E610D12A8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" r="-2737" b="47900"/>
          <a:stretch/>
        </p:blipFill>
        <p:spPr>
          <a:xfrm>
            <a:off x="8617327" y="3332808"/>
            <a:ext cx="2730767" cy="283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14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 fontScale="90000"/>
          </a:bodyPr>
          <a:lstStyle/>
          <a:p>
            <a:r>
              <a:rPr lang="ko-KR" altLang="en-US" sz="2800" dirty="0" err="1"/>
              <a:t>군집별</a:t>
            </a:r>
            <a:r>
              <a:rPr lang="ko-KR" altLang="en-US" sz="2800" dirty="0"/>
              <a:t> 프로파일링 </a:t>
            </a:r>
            <a:r>
              <a:rPr lang="en-US" altLang="ko-KR" sz="2800" dirty="0"/>
              <a:t>- </a:t>
            </a:r>
            <a:r>
              <a:rPr lang="ko-KR" altLang="en-US" sz="2800" dirty="0"/>
              <a:t>감성</a:t>
            </a:r>
            <a:r>
              <a:rPr lang="en-US" altLang="ko-KR" sz="2800" dirty="0"/>
              <a:t>&amp;</a:t>
            </a:r>
            <a:r>
              <a:rPr lang="en-US" altLang="ko-KR" sz="2800" dirty="0" err="1"/>
              <a:t>Premo</a:t>
            </a:r>
            <a:r>
              <a:rPr lang="en-US" altLang="ko-KR" sz="2800" dirty="0"/>
              <a:t> ANOVA</a:t>
            </a:r>
            <a:br>
              <a:rPr lang="en-US" altLang="ko-KR" sz="2800" dirty="0"/>
            </a:br>
            <a:endParaRPr lang="ko-KR" altLang="en-US" sz="2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결과 </a:t>
            </a:r>
            <a:endParaRPr lang="en-US" altLang="ko-KR" sz="1800" b="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유의확률 </a:t>
            </a:r>
            <a:r>
              <a:rPr lang="en-US" altLang="ko-KR" sz="1600" dirty="0"/>
              <a:t>0.05 </a:t>
            </a:r>
            <a:r>
              <a:rPr lang="ko-KR" altLang="en-US" sz="1600" dirty="0"/>
              <a:t>이상인 </a:t>
            </a:r>
            <a:r>
              <a:rPr lang="en-US" altLang="ko-KR" sz="1600" dirty="0"/>
              <a:t>‘</a:t>
            </a:r>
            <a:r>
              <a:rPr lang="ko-KR" altLang="en-US" sz="1600" dirty="0"/>
              <a:t>첨단적인</a:t>
            </a:r>
            <a:r>
              <a:rPr lang="en-US" altLang="ko-KR" sz="1600" dirty="0"/>
              <a:t>’</a:t>
            </a:r>
            <a:r>
              <a:rPr lang="ko-KR" altLang="en-US" sz="1600" dirty="0"/>
              <a:t>은 요소는 군집 간에 차별화가 제대로 되어 있지 않다고 볼 수 있음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대부분의 군집들이 비슷한 </a:t>
            </a:r>
            <a:r>
              <a:rPr lang="ko-KR" altLang="en-US" sz="1600" dirty="0" err="1"/>
              <a:t>변수들에서</a:t>
            </a:r>
            <a:r>
              <a:rPr lang="ko-KR" altLang="en-US" sz="1600" dirty="0"/>
              <a:t> 높은 값을 가지고 있음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디자인 감성 카테고리에서는 군집 </a:t>
            </a:r>
            <a:r>
              <a:rPr lang="en-US" altLang="ko-KR" sz="1600" dirty="0"/>
              <a:t>3</a:t>
            </a:r>
            <a:r>
              <a:rPr lang="ko-KR" altLang="en-US" sz="1600" dirty="0"/>
              <a:t>의 튼튼한 변수 평균 값이 가장 높음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각 군집별로 디자인 감성의 총 평균값을 비교했을 때 가장 높은 평가를 받은 것은 군집</a:t>
            </a:r>
            <a:r>
              <a:rPr lang="en-US" altLang="ko-KR" sz="1600" dirty="0"/>
              <a:t>4</a:t>
            </a:r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445088-999C-3AB0-E5B6-AF0C6E413B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684"/>
          <a:stretch/>
        </p:blipFill>
        <p:spPr>
          <a:xfrm>
            <a:off x="841412" y="3645024"/>
            <a:ext cx="10789299" cy="263757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497A157-2B3F-5F44-3DA3-887BB6ADE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480" y="2933631"/>
            <a:ext cx="2715004" cy="495369"/>
          </a:xfrm>
          <a:prstGeom prst="rect">
            <a:avLst/>
          </a:prstGeom>
        </p:spPr>
      </p:pic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6C7C7079-CDC3-3022-0DE1-2C93496218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3259" y="2873110"/>
            <a:ext cx="328380" cy="28803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172DE01F-2832-ADDA-84C4-5C614D235A60}"/>
                  </a:ext>
                </a:extLst>
              </p14:cNvPr>
              <p14:cNvContentPartPr/>
              <p14:nvPr/>
            </p14:nvContentPartPr>
            <p14:xfrm>
              <a:off x="3289770" y="2768490"/>
              <a:ext cx="850680" cy="64872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172DE01F-2832-ADDA-84C4-5C614D235A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80770" y="2759490"/>
                <a:ext cx="868320" cy="66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0185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 fontScale="90000"/>
          </a:bodyPr>
          <a:lstStyle/>
          <a:p>
            <a:r>
              <a:rPr lang="ko-KR" altLang="en-US" sz="2800" dirty="0" err="1"/>
              <a:t>군집별</a:t>
            </a:r>
            <a:r>
              <a:rPr lang="ko-KR" altLang="en-US" sz="2800" dirty="0"/>
              <a:t> 프로파일링 </a:t>
            </a:r>
            <a:r>
              <a:rPr lang="en-US" altLang="ko-KR" sz="2800" dirty="0"/>
              <a:t>- </a:t>
            </a:r>
            <a:r>
              <a:rPr lang="ko-KR" altLang="en-US" sz="2800" dirty="0"/>
              <a:t>감성</a:t>
            </a:r>
            <a:r>
              <a:rPr lang="en-US" altLang="ko-KR" sz="2800" dirty="0"/>
              <a:t>&amp;</a:t>
            </a:r>
            <a:r>
              <a:rPr lang="en-US" altLang="ko-KR" sz="2800" dirty="0" err="1"/>
              <a:t>Premo</a:t>
            </a:r>
            <a:r>
              <a:rPr lang="en-US" altLang="ko-KR" sz="2800" dirty="0"/>
              <a:t> ANOVA</a:t>
            </a:r>
            <a:br>
              <a:rPr lang="en-US" altLang="ko-KR" sz="2800" dirty="0"/>
            </a:br>
            <a:endParaRPr lang="ko-KR" altLang="en-US" sz="2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결과 </a:t>
            </a:r>
            <a:endParaRPr lang="en-US" altLang="ko-KR" sz="1800" b="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모두 </a:t>
            </a:r>
            <a:r>
              <a:rPr lang="en-US" altLang="ko-KR" sz="1600" dirty="0"/>
              <a:t>p</a:t>
            </a:r>
            <a:r>
              <a:rPr lang="ko-KR" altLang="en-US" sz="1600" dirty="0"/>
              <a:t>값 </a:t>
            </a:r>
            <a:r>
              <a:rPr lang="en-US" altLang="ko-KR" sz="1600" dirty="0"/>
              <a:t>0.001 </a:t>
            </a:r>
            <a:r>
              <a:rPr lang="ko-KR" altLang="en-US" sz="1600" dirty="0"/>
              <a:t>이하로 유의미하게 나타남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대부분의 군집들이 긍정 요소로 분류되는 변수에서 평균 이상의 값을 가짐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en-US" altLang="ko-KR" sz="1600" dirty="0" err="1"/>
              <a:t>Premo</a:t>
            </a:r>
            <a:r>
              <a:rPr lang="en-US" altLang="ko-KR" sz="1600" dirty="0"/>
              <a:t> </a:t>
            </a:r>
            <a:r>
              <a:rPr lang="ko-KR" altLang="en-US" sz="1600" dirty="0"/>
              <a:t>감성 평균 값 중 군집 </a:t>
            </a:r>
            <a:r>
              <a:rPr lang="en-US" altLang="ko-KR" sz="1600" dirty="0"/>
              <a:t>4</a:t>
            </a:r>
            <a:r>
              <a:rPr lang="ko-KR" altLang="en-US" sz="1600" dirty="0"/>
              <a:t>의 </a:t>
            </a:r>
            <a:r>
              <a:rPr lang="en-US" altLang="ko-KR" sz="1600" dirty="0"/>
              <a:t>Satisfaction (</a:t>
            </a:r>
            <a:r>
              <a:rPr lang="ko-KR" altLang="en-US" sz="1600" dirty="0"/>
              <a:t>만족</a:t>
            </a:r>
            <a:r>
              <a:rPr lang="en-US" altLang="ko-KR" sz="1600" dirty="0"/>
              <a:t>) </a:t>
            </a:r>
            <a:r>
              <a:rPr lang="ko-KR" altLang="en-US" sz="1600" dirty="0" err="1"/>
              <a:t>평가값이</a:t>
            </a:r>
            <a:r>
              <a:rPr lang="ko-KR" altLang="en-US" sz="1600" dirty="0"/>
              <a:t> 가장 높게 나타남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각 군집별로 </a:t>
            </a:r>
            <a:r>
              <a:rPr lang="en-US" altLang="ko-KR" sz="1600" dirty="0" err="1"/>
              <a:t>Premo</a:t>
            </a:r>
            <a:r>
              <a:rPr lang="ko-KR" altLang="en-US" sz="1600" dirty="0"/>
              <a:t> 감성의 총 평균값을 비교했을 때 가장 높은 평가를 받은 것은 군집</a:t>
            </a:r>
            <a:r>
              <a:rPr lang="en-US" altLang="ko-KR" sz="1600" dirty="0"/>
              <a:t>4</a:t>
            </a:r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445088-999C-3AB0-E5B6-AF0C6E413B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316" r="46022"/>
          <a:stretch/>
        </p:blipFill>
        <p:spPr>
          <a:xfrm>
            <a:off x="3035660" y="3811894"/>
            <a:ext cx="6120680" cy="2629857"/>
          </a:xfrm>
          <a:prstGeom prst="rect">
            <a:avLst/>
          </a:prstGeom>
        </p:spPr>
      </p:pic>
      <p:cxnSp>
        <p:nvCxnSpPr>
          <p:cNvPr id="3" name="연결선: 구부러짐 2">
            <a:extLst>
              <a:ext uri="{FF2B5EF4-FFF2-40B4-BE49-F238E27FC236}">
                <a16:creationId xmlns:a16="http://schemas.microsoft.com/office/drawing/2014/main" id="{04E02023-FB1A-1740-A35A-8FB55D4CF4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3259" y="2873110"/>
            <a:ext cx="328380" cy="28803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19932F4D-9958-B674-E9D9-9A0FD92FF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9689" y="3004895"/>
            <a:ext cx="3272015" cy="5549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7B94B65A-2E34-EB07-FEFD-30EA9AE79FE1}"/>
                  </a:ext>
                </a:extLst>
              </p14:cNvPr>
              <p14:cNvContentPartPr/>
              <p14:nvPr/>
            </p14:nvContentPartPr>
            <p14:xfrm>
              <a:off x="3954690" y="2971170"/>
              <a:ext cx="878040" cy="6861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7B94B65A-2E34-EB07-FEFD-30EA9AE79F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46050" y="2962530"/>
                <a:ext cx="895680" cy="70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6591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 fontScale="90000"/>
          </a:bodyPr>
          <a:lstStyle/>
          <a:p>
            <a:r>
              <a:rPr lang="ko-KR" altLang="en-US" sz="2800" dirty="0" err="1"/>
              <a:t>군집별</a:t>
            </a:r>
            <a:r>
              <a:rPr lang="ko-KR" altLang="en-US" sz="2800" dirty="0"/>
              <a:t> 프로파일링 </a:t>
            </a:r>
            <a:r>
              <a:rPr lang="en-US" altLang="ko-KR" sz="2800" dirty="0"/>
              <a:t>- </a:t>
            </a:r>
            <a:r>
              <a:rPr lang="ko-KR" altLang="en-US" sz="2800" dirty="0"/>
              <a:t>감성</a:t>
            </a:r>
            <a:r>
              <a:rPr lang="en-US" altLang="ko-KR" sz="2800" dirty="0"/>
              <a:t>&amp;</a:t>
            </a:r>
            <a:r>
              <a:rPr lang="en-US" altLang="ko-KR" sz="2800" dirty="0" err="1"/>
              <a:t>Premo</a:t>
            </a:r>
            <a:r>
              <a:rPr lang="en-US" altLang="ko-KR" sz="2800" dirty="0"/>
              <a:t> ANOVA</a:t>
            </a:r>
            <a:br>
              <a:rPr lang="en-US" altLang="ko-KR" sz="2800" dirty="0"/>
            </a:br>
            <a:endParaRPr lang="ko-KR" altLang="en-US" sz="2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결과 </a:t>
            </a:r>
            <a:endParaRPr lang="en-US" altLang="ko-KR" sz="1800" b="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유의확률 </a:t>
            </a:r>
            <a:r>
              <a:rPr lang="en-US" altLang="ko-KR" sz="1600" dirty="0"/>
              <a:t>0.05 </a:t>
            </a:r>
            <a:r>
              <a:rPr lang="ko-KR" altLang="en-US" sz="1600" dirty="0"/>
              <a:t>이상인 </a:t>
            </a:r>
            <a:r>
              <a:rPr lang="en-US" altLang="ko-KR" sz="1600" dirty="0"/>
              <a:t>‘</a:t>
            </a:r>
            <a:r>
              <a:rPr lang="ko-KR" altLang="en-US" sz="1600" dirty="0"/>
              <a:t>첨단적인</a:t>
            </a:r>
            <a:r>
              <a:rPr lang="en-US" altLang="ko-KR" sz="1600" dirty="0"/>
              <a:t>’ </a:t>
            </a:r>
            <a:r>
              <a:rPr lang="ko-KR" altLang="en-US" sz="1600" dirty="0"/>
              <a:t>의 </a:t>
            </a:r>
            <a:r>
              <a:rPr lang="en-US" altLang="ko-KR" sz="1600" dirty="0"/>
              <a:t>Bonferroni </a:t>
            </a:r>
            <a:r>
              <a:rPr lang="ko-KR" altLang="en-US" sz="1600" dirty="0"/>
              <a:t>사후 검정 표를 확인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군집 </a:t>
            </a:r>
            <a:r>
              <a:rPr lang="en-US" altLang="ko-KR" sz="1600" dirty="0"/>
              <a:t>1, 3, 4 </a:t>
            </a:r>
            <a:r>
              <a:rPr lang="ko-KR" altLang="en-US" sz="1600" dirty="0"/>
              <a:t>간에는 첨단적인 요소의 차별화가 전혀 이루어지지 않고 있으며 다른 군집 간에도 거의 드러나지 않는</a:t>
            </a:r>
            <a:br>
              <a:rPr lang="en-US" altLang="ko-KR" sz="1600" dirty="0"/>
            </a:br>
            <a:r>
              <a:rPr lang="ko-KR" altLang="en-US" sz="1600" dirty="0"/>
              <a:t>것으로 나타남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AEC042-BC49-1D99-F78E-933E33495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23" y="2751112"/>
            <a:ext cx="5328592" cy="7498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C037E7-1A0D-F2EB-89A3-65C71C695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67" y="4293096"/>
            <a:ext cx="5653877" cy="19624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19E01FF-5638-E7EF-DC4A-C2C55A1D0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432" y="3645024"/>
            <a:ext cx="5585771" cy="6480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5DB8D80-BE6F-349D-A9CB-6C4AB9647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2151" y="2518270"/>
            <a:ext cx="3939873" cy="2626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F4444D5C-68FD-15B9-5BD1-4937CDA113FC}"/>
                  </a:ext>
                </a:extLst>
              </p14:cNvPr>
              <p14:cNvContentPartPr/>
              <p14:nvPr/>
            </p14:nvContentPartPr>
            <p14:xfrm>
              <a:off x="5879970" y="2832210"/>
              <a:ext cx="332280" cy="2916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F4444D5C-68FD-15B9-5BD1-4937CDA113F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26330" y="2724570"/>
                <a:ext cx="4399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3D684D54-BFFC-96D5-1C48-C77187C07DF2}"/>
                  </a:ext>
                </a:extLst>
              </p14:cNvPr>
              <p14:cNvContentPartPr/>
              <p14:nvPr/>
            </p14:nvContentPartPr>
            <p14:xfrm>
              <a:off x="5003730" y="4317570"/>
              <a:ext cx="70560" cy="177624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3D684D54-BFFC-96D5-1C48-C77187C07D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50090" y="4209930"/>
                <a:ext cx="178200" cy="199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9932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 fontScale="90000"/>
          </a:bodyPr>
          <a:lstStyle/>
          <a:p>
            <a:r>
              <a:rPr lang="ko-KR" altLang="en-US" sz="2800" dirty="0" err="1"/>
              <a:t>군집별</a:t>
            </a:r>
            <a:r>
              <a:rPr lang="ko-KR" altLang="en-US" sz="2800" dirty="0"/>
              <a:t> 프로파일링 </a:t>
            </a:r>
            <a:r>
              <a:rPr lang="en-US" altLang="ko-KR" sz="2800" dirty="0"/>
              <a:t>- </a:t>
            </a:r>
            <a:r>
              <a:rPr lang="ko-KR" altLang="en-US" sz="2800" dirty="0"/>
              <a:t>감성</a:t>
            </a:r>
            <a:r>
              <a:rPr lang="en-US" altLang="ko-KR" sz="2800" dirty="0"/>
              <a:t>&amp;</a:t>
            </a:r>
            <a:r>
              <a:rPr lang="en-US" altLang="ko-KR" sz="2800" dirty="0" err="1"/>
              <a:t>Premo</a:t>
            </a:r>
            <a:r>
              <a:rPr lang="en-US" altLang="ko-KR" sz="2800" dirty="0"/>
              <a:t> ANOVA</a:t>
            </a:r>
            <a:br>
              <a:rPr lang="en-US" altLang="ko-KR" sz="2800" dirty="0"/>
            </a:br>
            <a:endParaRPr lang="ko-KR" altLang="en-US" sz="2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분석 결과 </a:t>
            </a:r>
            <a:endParaRPr lang="en-US" altLang="ko-KR" sz="1800" b="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 err="1"/>
              <a:t>요인별</a:t>
            </a:r>
            <a:r>
              <a:rPr lang="ko-KR" altLang="en-US" sz="1600" dirty="0"/>
              <a:t> 감성에서 각 군집별로 디자인 감성 </a:t>
            </a:r>
            <a:r>
              <a:rPr lang="en-US" altLang="ko-KR" sz="1600" dirty="0"/>
              <a:t>/ </a:t>
            </a:r>
            <a:r>
              <a:rPr lang="en-US" altLang="ko-KR" sz="1600" dirty="0" err="1"/>
              <a:t>Premo</a:t>
            </a:r>
            <a:r>
              <a:rPr lang="en-US" altLang="ko-KR" sz="1600" dirty="0"/>
              <a:t> </a:t>
            </a:r>
            <a:r>
              <a:rPr lang="ko-KR" altLang="en-US" sz="1600" dirty="0"/>
              <a:t>감성 평균값 이상인 변수 값에 색칠</a:t>
            </a: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 err="1"/>
              <a:t>요인별</a:t>
            </a:r>
            <a:r>
              <a:rPr lang="ko-KR" altLang="en-US" sz="1600" dirty="0"/>
              <a:t> 감성에서 전체적으로 가장 높은 평가를 얻은 군집 </a:t>
            </a:r>
            <a:r>
              <a:rPr lang="en-US" altLang="ko-KR" sz="1600" dirty="0"/>
              <a:t>4</a:t>
            </a:r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전반적 평가에서 모두 가장 높은 평가를 얻은 군집 </a:t>
            </a:r>
            <a:r>
              <a:rPr lang="en-US" altLang="ko-KR" sz="1600" dirty="0"/>
              <a:t>4</a:t>
            </a:r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  <a:p>
            <a:pPr marL="461963" lvl="1" indent="-285750">
              <a:buFont typeface="Wingdings" panose="05000000000000000000" pitchFamily="2" charset="2"/>
              <a:buChar char="§"/>
            </a:pP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3D86A1-F647-33C0-1438-5F3806B73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081" y="2924944"/>
            <a:ext cx="9935962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53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E88DD-BE41-6C04-646C-4B9AC1785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0893399" cy="525658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/>
              <a:t>전반적 만족도가 가장 높았던 군집 </a:t>
            </a:r>
            <a:r>
              <a:rPr lang="en-US" altLang="ko-KR" sz="1600" dirty="0"/>
              <a:t>4</a:t>
            </a:r>
            <a:r>
              <a:rPr lang="ko-KR" altLang="en-US" sz="1600" dirty="0"/>
              <a:t>의 디자인 특성 및 감성 확인 </a:t>
            </a:r>
            <a:endParaRPr lang="en-US" altLang="ko-KR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TV </a:t>
            </a:r>
            <a:r>
              <a:rPr lang="ko-KR" altLang="en-US" sz="1400" dirty="0"/>
              <a:t>외형 </a:t>
            </a:r>
            <a:r>
              <a:rPr lang="en-US" altLang="ko-KR" sz="1400" dirty="0"/>
              <a:t>: </a:t>
            </a:r>
            <a:r>
              <a:rPr lang="ko-KR" altLang="en-US" sz="1400" dirty="0"/>
              <a:t>사각형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400" dirty="0"/>
              <a:t>프레임 색상 </a:t>
            </a:r>
            <a:r>
              <a:rPr lang="en-US" altLang="ko-KR" sz="1400" dirty="0"/>
              <a:t>: </a:t>
            </a:r>
            <a:r>
              <a:rPr lang="ko-KR" altLang="en-US" sz="1400" dirty="0"/>
              <a:t>검정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400" dirty="0"/>
              <a:t>프레임 두께 </a:t>
            </a:r>
            <a:r>
              <a:rPr lang="en-US" altLang="ko-KR" sz="1400" dirty="0"/>
              <a:t>&amp; </a:t>
            </a:r>
            <a:r>
              <a:rPr lang="ko-KR" altLang="en-US" sz="1400" dirty="0"/>
              <a:t>옆면 두께 </a:t>
            </a:r>
            <a:r>
              <a:rPr lang="en-US" altLang="ko-KR" sz="1400" dirty="0"/>
              <a:t>: </a:t>
            </a:r>
            <a:r>
              <a:rPr lang="ko-KR" altLang="en-US" sz="1400" dirty="0"/>
              <a:t>얇음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400" dirty="0"/>
              <a:t>스탠드 받침 모양 </a:t>
            </a:r>
            <a:r>
              <a:rPr lang="en-US" altLang="ko-KR" sz="1400" dirty="0"/>
              <a:t>: </a:t>
            </a:r>
            <a:r>
              <a:rPr lang="ko-KR" altLang="en-US" sz="1400" dirty="0"/>
              <a:t>사각형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400" dirty="0"/>
              <a:t>안테나 </a:t>
            </a:r>
            <a:r>
              <a:rPr lang="en-US" altLang="ko-KR" sz="1400" dirty="0"/>
              <a:t>&amp; </a:t>
            </a:r>
            <a:r>
              <a:rPr lang="ko-KR" altLang="en-US" sz="1400" dirty="0"/>
              <a:t>버튼 </a:t>
            </a:r>
            <a:r>
              <a:rPr lang="en-US" altLang="ko-KR" sz="1400" dirty="0"/>
              <a:t>: X</a:t>
            </a:r>
            <a:endParaRPr lang="ko-KR" altLang="en-US" sz="140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6AEB739-00FA-8C47-FEB9-80DF397E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 err="1"/>
              <a:t>군집별</a:t>
            </a:r>
            <a:r>
              <a:rPr lang="ko-KR" altLang="en-US" sz="2800" dirty="0"/>
              <a:t> 프로파일링 결론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54821E-7153-F928-EEA7-83085695C3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190"/>
          <a:stretch/>
        </p:blipFill>
        <p:spPr>
          <a:xfrm>
            <a:off x="1631504" y="3069216"/>
            <a:ext cx="9317518" cy="3384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9EBB26-7495-4636-7CA1-607A60707B25}"/>
              </a:ext>
            </a:extLst>
          </p:cNvPr>
          <p:cNvSpPr txBox="1"/>
          <p:nvPr/>
        </p:nvSpPr>
        <p:spPr>
          <a:xfrm>
            <a:off x="4943872" y="1628800"/>
            <a:ext cx="53285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평균 값 이상으로 측정된 감성 지표들 중에서도 차별화된</a:t>
            </a:r>
            <a:r>
              <a:rPr lang="en-US" altLang="ko-KR" sz="1400" dirty="0"/>
              <a:t>, </a:t>
            </a:r>
          </a:p>
          <a:p>
            <a:r>
              <a:rPr lang="ko-KR" altLang="en-US" sz="1400" dirty="0"/>
              <a:t>세련된</a:t>
            </a:r>
            <a:r>
              <a:rPr lang="en-US" altLang="ko-KR" sz="1400" dirty="0"/>
              <a:t>, </a:t>
            </a:r>
            <a:r>
              <a:rPr lang="ko-KR" altLang="en-US" sz="1400" dirty="0"/>
              <a:t>편안한의 값은 다른 군집보다도 더 높게 나타남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긍정 요소로 판별되는 </a:t>
            </a:r>
            <a:r>
              <a:rPr lang="en-US" altLang="ko-KR" sz="1400" dirty="0" err="1"/>
              <a:t>Premo</a:t>
            </a:r>
            <a:r>
              <a:rPr lang="en-US" altLang="ko-KR" sz="1400" dirty="0"/>
              <a:t> </a:t>
            </a:r>
            <a:r>
              <a:rPr lang="ko-KR" altLang="en-US" sz="1400" dirty="0"/>
              <a:t>지표의 평균 값이 전부 다른 </a:t>
            </a:r>
            <a:endParaRPr lang="en-US" altLang="ko-KR" sz="1400" dirty="0"/>
          </a:p>
          <a:p>
            <a:r>
              <a:rPr lang="ko-KR" altLang="en-US" sz="1400" dirty="0"/>
              <a:t>군집보다 더 높게 나타남</a:t>
            </a:r>
          </a:p>
        </p:txBody>
      </p:sp>
    </p:spTree>
    <p:extLst>
      <p:ext uri="{BB962C8B-B14F-4D97-AF65-F5344CB8AC3E}">
        <p14:creationId xmlns:p14="http://schemas.microsoft.com/office/powerpoint/2010/main" val="1731508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54305</TotalTime>
  <Words>1095</Words>
  <Application>Microsoft Office PowerPoint</Application>
  <PresentationFormat>와이드스크린</PresentationFormat>
  <Paragraphs>134</Paragraphs>
  <Slides>15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나눔고딕</vt:lpstr>
      <vt:lpstr>맑은 고딕</vt:lpstr>
      <vt:lpstr>Arial</vt:lpstr>
      <vt:lpstr>Wingdings</vt:lpstr>
      <vt:lpstr>Office 테마</vt:lpstr>
      <vt:lpstr>감정 기반 TV 디자인 평가 : 군집별 프로파일링 진행 과정 발표</vt:lpstr>
      <vt:lpstr>PowerPoint 프레젠테이션</vt:lpstr>
      <vt:lpstr>지난 발표 보완</vt:lpstr>
      <vt:lpstr>상관분석 진행 과정 및 결과</vt:lpstr>
      <vt:lpstr>상관분석 진행 과정 및 결과</vt:lpstr>
      <vt:lpstr>상관분석 진행 과정 및 결과</vt:lpstr>
      <vt:lpstr>군집별 프로파일링 – 디자인 속성 카이제곱 검정</vt:lpstr>
      <vt:lpstr>군집별 프로파일링 - 디자인 속성 카이제곱 검정</vt:lpstr>
      <vt:lpstr>군집별 프로파일링 - 디자인 속성 카이제곱 검정</vt:lpstr>
      <vt:lpstr>군집별 프로파일링 – 감성&amp;Premo ANOVA </vt:lpstr>
      <vt:lpstr>군집별 프로파일링 - 감성&amp;Premo ANOVA </vt:lpstr>
      <vt:lpstr>군집별 프로파일링 - 감성&amp;Premo ANOVA </vt:lpstr>
      <vt:lpstr>군집별 프로파일링 - 감성&amp;Premo ANOVA </vt:lpstr>
      <vt:lpstr>군집별 프로파일링 - 감성&amp;Premo ANOVA </vt:lpstr>
      <vt:lpstr>군집별 프로파일링 결론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 INFORMATION SYSTEMS IN BUSINESS TODAY</dc:title>
  <dc:creator>prehero</dc:creator>
  <cp:lastModifiedBy>qp autumn</cp:lastModifiedBy>
  <cp:revision>415</cp:revision>
  <dcterms:created xsi:type="dcterms:W3CDTF">2013-01-13T14:16:34Z</dcterms:created>
  <dcterms:modified xsi:type="dcterms:W3CDTF">2024-07-31T06:52:42Z</dcterms:modified>
</cp:coreProperties>
</file>