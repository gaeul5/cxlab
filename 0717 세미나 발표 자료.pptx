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899" r:id="rId2"/>
    <p:sldId id="911" r:id="rId3"/>
    <p:sldId id="336" r:id="rId4"/>
    <p:sldId id="913" r:id="rId5"/>
    <p:sldId id="912" r:id="rId6"/>
    <p:sldId id="916" r:id="rId7"/>
    <p:sldId id="915" r:id="rId8"/>
    <p:sldId id="917" r:id="rId9"/>
    <p:sldId id="919" r:id="rId10"/>
    <p:sldId id="914" r:id="rId11"/>
    <p:sldId id="918" r:id="rId12"/>
    <p:sldId id="773" r:id="rId13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8" autoAdjust="0"/>
    <p:restoredTop sz="87237" autoAdjust="0"/>
  </p:normalViewPr>
  <p:slideViewPr>
    <p:cSldViewPr showGuides="1">
      <p:cViewPr varScale="1">
        <p:scale>
          <a:sx n="96" d="100"/>
          <a:sy n="96" d="100"/>
        </p:scale>
        <p:origin x="556" y="60"/>
      </p:cViewPr>
      <p:guideLst>
        <p:guide orient="horz" pos="13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400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5A56885-FA9A-40C7-9B46-646BB201EC77}" type="datetimeFigureOut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F0C30B1-82B3-49AD-A24D-A620B6C3D6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5404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6044024A-FB19-4357-B686-487AF6892FEC}" type="datetimeFigureOut">
              <a:rPr lang="ko-KR" altLang="en-US" smtClean="0"/>
              <a:t>2024-07-17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3C6400C-690E-4809-B66E-CD8DD4AFC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729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625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05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423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6400C-690E-4809-B66E-CD8DD4AFC93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003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0267" y="3474339"/>
            <a:ext cx="11311466" cy="665722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lang="ko-KR" alt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438338" y="4149781"/>
            <a:ext cx="9315326" cy="7039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B1CB5637-BD5D-82E7-BFC5-3B8CEE9AD7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29797" y="5732024"/>
            <a:ext cx="5510498" cy="6657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400" b="1"/>
            </a:lvl1pPr>
            <a:lvl2pPr marL="354013" indent="-174625" algn="r">
              <a:lnSpc>
                <a:spcPct val="100000"/>
              </a:lnSpc>
              <a:spcBef>
                <a:spcPts val="600"/>
              </a:spcBef>
              <a:defRPr sz="1200"/>
            </a:lvl2pPr>
            <a:lvl3pPr marL="361950" indent="0" algn="r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100"/>
            </a:lvl3pPr>
            <a:lvl4pPr marL="719138" indent="-176213" algn="r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pic>
        <p:nvPicPr>
          <p:cNvPr id="18" name="Picture 2" descr="http://itorganization2017.files.wordpress.com/2010/08/convergence.jpg">
            <a:extLst>
              <a:ext uri="{FF2B5EF4-FFF2-40B4-BE49-F238E27FC236}">
                <a16:creationId xmlns:a16="http://schemas.microsoft.com/office/drawing/2014/main" id="{0D078C69-D453-D65D-F609-70C3A5BCA84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" t="2949" r="2165" b="9162"/>
          <a:stretch/>
        </p:blipFill>
        <p:spPr bwMode="auto">
          <a:xfrm>
            <a:off x="2744" y="0"/>
            <a:ext cx="1219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9B6B1A-6D37-6052-3A2A-5685CE03A30A}"/>
              </a:ext>
            </a:extLst>
          </p:cNvPr>
          <p:cNvSpPr txBox="1"/>
          <p:nvPr userDrawn="1"/>
        </p:nvSpPr>
        <p:spPr>
          <a:xfrm>
            <a:off x="366348" y="6271214"/>
            <a:ext cx="4064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고객경험연구실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Customer Experience Laboratory</a:t>
            </a:r>
          </a:p>
        </p:txBody>
      </p:sp>
      <p:pic>
        <p:nvPicPr>
          <p:cNvPr id="26" name="그림 25" descr="화살이(가) 표시된 사진&#10;&#10;자동 생성된 설명">
            <a:extLst>
              <a:ext uri="{FF2B5EF4-FFF2-40B4-BE49-F238E27FC236}">
                <a16:creationId xmlns:a16="http://schemas.microsoft.com/office/drawing/2014/main" id="{2E6CA161-AFE2-394A-BE00-839E9AA1F5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67" y="5877272"/>
            <a:ext cx="829299" cy="3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4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2D62F9-C09C-3380-67D6-EE865AE0B774}"/>
              </a:ext>
            </a:extLst>
          </p:cNvPr>
          <p:cNvSpPr/>
          <p:nvPr userDrawn="1"/>
        </p:nvSpPr>
        <p:spPr>
          <a:xfrm>
            <a:off x="419449" y="1761"/>
            <a:ext cx="11507919" cy="906959"/>
          </a:xfrm>
          <a:prstGeom prst="rect">
            <a:avLst/>
          </a:prstGeom>
          <a:gradFill flip="none" rotWithShape="1">
            <a:gsLst>
              <a:gs pos="39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5B90706-954C-6D13-F8E3-882769B1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07" y="205418"/>
            <a:ext cx="11121711" cy="52180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E5E895-7F4D-A102-04FF-0179B9AD981E}"/>
              </a:ext>
            </a:extLst>
          </p:cNvPr>
          <p:cNvSpPr/>
          <p:nvPr userDrawn="1"/>
        </p:nvSpPr>
        <p:spPr>
          <a:xfrm>
            <a:off x="623391" y="1636432"/>
            <a:ext cx="11233249" cy="488382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377123B-AD04-50AF-DE49-56A0FD16E2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5208" y="1700808"/>
            <a:ext cx="11121711" cy="4752527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>
              <a:lnSpc>
                <a:spcPct val="100000"/>
              </a:lnSpc>
              <a:spcBef>
                <a:spcPts val="600"/>
              </a:spcBef>
              <a:defRPr sz="1400" b="1"/>
            </a:lvl1pPr>
            <a:lvl2pPr marL="354013" indent="-174625">
              <a:lnSpc>
                <a:spcPct val="100000"/>
              </a:lnSpc>
              <a:spcBef>
                <a:spcPts val="600"/>
              </a:spcBef>
              <a:defRPr sz="1200"/>
            </a:lvl2pPr>
            <a:lvl3pPr marL="541338" indent="-1793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100"/>
            </a:lvl3pPr>
            <a:lvl4pPr marL="719138" indent="-176213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12041D5-1354-F0E8-F599-FA94A69A4AC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75208" y="988360"/>
            <a:ext cx="11124146" cy="5684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 b="1"/>
            </a:lvl1pPr>
            <a:lvl2pPr marL="354013" indent="-174625">
              <a:lnSpc>
                <a:spcPct val="100000"/>
              </a:lnSpc>
              <a:spcBef>
                <a:spcPts val="600"/>
              </a:spcBef>
              <a:defRPr sz="1200"/>
            </a:lvl2pPr>
            <a:lvl3pPr marL="541338" indent="-1793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100"/>
            </a:lvl3pPr>
            <a:lvl4pPr marL="719138" indent="-176213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넷째수준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6FA9C6-178B-C7D5-D7E8-206A23D3550B}"/>
              </a:ext>
            </a:extLst>
          </p:cNvPr>
          <p:cNvSpPr/>
          <p:nvPr userDrawn="1"/>
        </p:nvSpPr>
        <p:spPr>
          <a:xfrm>
            <a:off x="407368" y="814400"/>
            <a:ext cx="11520000" cy="94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27AEDD-DBDA-8C14-E0F1-4EA732554FD9}"/>
              </a:ext>
            </a:extLst>
          </p:cNvPr>
          <p:cNvSpPr/>
          <p:nvPr userDrawn="1"/>
        </p:nvSpPr>
        <p:spPr>
          <a:xfrm>
            <a:off x="0" y="0"/>
            <a:ext cx="41944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900" dirty="0"/>
              <a:t>© CXLab.</a:t>
            </a:r>
            <a:br>
              <a:rPr lang="en-US" altLang="ko-KR" sz="900" dirty="0"/>
            </a:br>
            <a:r>
              <a:rPr lang="en-US" altLang="ko-KR" sz="900" dirty="0"/>
              <a:t>All Rights Reserved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593409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47CDC8-1BCD-D669-D6C4-E4B60B7165C6}"/>
              </a:ext>
            </a:extLst>
          </p:cNvPr>
          <p:cNvSpPr/>
          <p:nvPr userDrawn="1"/>
        </p:nvSpPr>
        <p:spPr>
          <a:xfrm>
            <a:off x="419449" y="1761"/>
            <a:ext cx="11507919" cy="906959"/>
          </a:xfrm>
          <a:prstGeom prst="rect">
            <a:avLst/>
          </a:prstGeom>
          <a:gradFill flip="none" rotWithShape="1">
            <a:gsLst>
              <a:gs pos="39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8C08645-2437-3C05-6237-124DC25D3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07" y="205418"/>
            <a:ext cx="11121711" cy="52180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B2D6FF-B944-1664-876C-CEDA511E6B64}"/>
              </a:ext>
            </a:extLst>
          </p:cNvPr>
          <p:cNvSpPr/>
          <p:nvPr userDrawn="1"/>
        </p:nvSpPr>
        <p:spPr>
          <a:xfrm>
            <a:off x="623391" y="1118450"/>
            <a:ext cx="11233249" cy="54018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017D6A1-0917-F17A-8D98-46EA282AA2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5208" y="1196752"/>
            <a:ext cx="11121711" cy="5256583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>
              <a:lnSpc>
                <a:spcPct val="100000"/>
              </a:lnSpc>
              <a:spcBef>
                <a:spcPts val="600"/>
              </a:spcBef>
              <a:defRPr sz="1400" b="1"/>
            </a:lvl1pPr>
            <a:lvl2pPr marL="354013" indent="-174625">
              <a:lnSpc>
                <a:spcPct val="100000"/>
              </a:lnSpc>
              <a:spcBef>
                <a:spcPts val="600"/>
              </a:spcBef>
              <a:defRPr sz="1200"/>
            </a:lvl2pPr>
            <a:lvl3pPr marL="541338" indent="-1793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100"/>
            </a:lvl3pPr>
            <a:lvl4pPr marL="719138" indent="-176213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넷째수준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8DBDD2-AF5E-D070-8724-85F51080E036}"/>
              </a:ext>
            </a:extLst>
          </p:cNvPr>
          <p:cNvSpPr/>
          <p:nvPr userDrawn="1"/>
        </p:nvSpPr>
        <p:spPr>
          <a:xfrm>
            <a:off x="407368" y="814400"/>
            <a:ext cx="11520000" cy="94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96FE63-5FD3-B3C5-9C90-5320B6A24F22}"/>
              </a:ext>
            </a:extLst>
          </p:cNvPr>
          <p:cNvSpPr/>
          <p:nvPr userDrawn="1"/>
        </p:nvSpPr>
        <p:spPr>
          <a:xfrm>
            <a:off x="0" y="0"/>
            <a:ext cx="41944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900" dirty="0"/>
              <a:t>© CXLab.</a:t>
            </a:r>
            <a:br>
              <a:rPr lang="en-US" altLang="ko-KR" sz="900" dirty="0"/>
            </a:br>
            <a:r>
              <a:rPr lang="en-US" altLang="ko-KR" sz="900" dirty="0"/>
              <a:t>All Rights Reserved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8659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>
            <a:extLst>
              <a:ext uri="{FF2B5EF4-FFF2-40B4-BE49-F238E27FC236}">
                <a16:creationId xmlns:a16="http://schemas.microsoft.com/office/drawing/2014/main" id="{E58E07AA-D77B-4C1B-9DC4-A55B394DD3AE}"/>
              </a:ext>
            </a:extLst>
          </p:cNvPr>
          <p:cNvSpPr/>
          <p:nvPr userDrawn="1"/>
        </p:nvSpPr>
        <p:spPr>
          <a:xfrm>
            <a:off x="2400943" y="3628617"/>
            <a:ext cx="366607" cy="355478"/>
          </a:xfrm>
          <a:prstGeom prst="ellipse">
            <a:avLst/>
          </a:prstGeom>
          <a:solidFill>
            <a:schemeClr val="bg1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44D01-6B7B-4ED7-9D8C-70DF1B045219}"/>
              </a:ext>
            </a:extLst>
          </p:cNvPr>
          <p:cNvSpPr txBox="1"/>
          <p:nvPr userDrawn="1"/>
        </p:nvSpPr>
        <p:spPr>
          <a:xfrm>
            <a:off x="812090" y="3745504"/>
            <a:ext cx="20036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latin typeface="나눔고딕" pitchFamily="2" charset="-127"/>
                <a:ea typeface="나눔고딕" pitchFamily="2" charset="-127"/>
              </a:rPr>
              <a:t>CONTENTS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C84FB9B-9791-41DC-BF0E-7879531A371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83433" y="4339445"/>
            <a:ext cx="5616624" cy="10688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354013" indent="-174625">
              <a:lnSpc>
                <a:spcPct val="100000"/>
              </a:lnSpc>
              <a:spcBef>
                <a:spcPts val="600"/>
              </a:spcBef>
              <a:defRPr sz="1200"/>
            </a:lvl2pPr>
            <a:lvl3pPr marL="541338" indent="-179388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1100"/>
            </a:lvl3pPr>
            <a:lvl4pPr marL="719138" indent="-176213">
              <a:buFont typeface="Wingdings" panose="05000000000000000000" pitchFamily="2" charset="2"/>
              <a:buChar char="v"/>
              <a:defRPr sz="1000"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넷째수준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42F6A10-8B89-099F-074C-2F60657A78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966" r="20712" b="19350"/>
          <a:stretch/>
        </p:blipFill>
        <p:spPr>
          <a:xfrm>
            <a:off x="5846154" y="-1"/>
            <a:ext cx="6345845" cy="530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5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CCEB52-CCF4-4C80-A360-2FB12F986D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524" t="16664" r="5993" b="7064"/>
          <a:stretch/>
        </p:blipFill>
        <p:spPr>
          <a:xfrm>
            <a:off x="809183" y="507332"/>
            <a:ext cx="886295" cy="307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075910-61E2-411D-A0F1-F3B09BC71406}"/>
              </a:ext>
            </a:extLst>
          </p:cNvPr>
          <p:cNvSpPr txBox="1"/>
          <p:nvPr userDrawn="1"/>
        </p:nvSpPr>
        <p:spPr>
          <a:xfrm>
            <a:off x="735264" y="815109"/>
            <a:ext cx="4064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고객경험연구실</a:t>
            </a:r>
            <a:endParaRPr lang="en-US" altLang="ko-KR" sz="1000" b="1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Customer Experience Laboratory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FA4200-7BAA-44FA-9A5F-3F7344B6F1D2}"/>
              </a:ext>
            </a:extLst>
          </p:cNvPr>
          <p:cNvSpPr txBox="1"/>
          <p:nvPr userDrawn="1"/>
        </p:nvSpPr>
        <p:spPr>
          <a:xfrm>
            <a:off x="809183" y="4025726"/>
            <a:ext cx="495369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800" b="1" dirty="0">
                <a:latin typeface="나눔고딕" pitchFamily="2" charset="-127"/>
                <a:ea typeface="나눔고딕" pitchFamily="2" charset="-127"/>
              </a:rPr>
              <a:t>감사합니다</a:t>
            </a:r>
            <a:r>
              <a:rPr lang="en-US" altLang="ko-KR" sz="38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38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D3AA89-6626-14CF-0B41-845F535C9A4B}"/>
              </a:ext>
            </a:extLst>
          </p:cNvPr>
          <p:cNvSpPr/>
          <p:nvPr userDrawn="1"/>
        </p:nvSpPr>
        <p:spPr>
          <a:xfrm>
            <a:off x="0" y="0"/>
            <a:ext cx="41944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900" dirty="0"/>
              <a:t>© Do-</a:t>
            </a:r>
            <a:r>
              <a:rPr lang="en-US" altLang="ko-KR" sz="900" dirty="0" err="1"/>
              <a:t>Hyung</a:t>
            </a:r>
            <a:r>
              <a:rPr lang="en-US" altLang="ko-KR" sz="900" dirty="0"/>
              <a:t> Park</a:t>
            </a:r>
          </a:p>
          <a:p>
            <a:pPr algn="ctr"/>
            <a:r>
              <a:rPr lang="en-US" altLang="ko-KR" sz="900" dirty="0"/>
              <a:t>All Rights Reserved</a:t>
            </a:r>
            <a:endParaRPr lang="ko-KR" altLang="en-US" sz="900" dirty="0"/>
          </a:p>
        </p:txBody>
      </p:sp>
      <p:pic>
        <p:nvPicPr>
          <p:cNvPr id="10" name="그림 9" descr="화살이(가) 표시된 사진&#10;&#10;자동 생성된 설명">
            <a:extLst>
              <a:ext uri="{FF2B5EF4-FFF2-40B4-BE49-F238E27FC236}">
                <a16:creationId xmlns:a16="http://schemas.microsoft.com/office/drawing/2014/main" id="{A03212E5-EE18-86A0-9F6A-7F42B5AF26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83" y="421167"/>
            <a:ext cx="829299" cy="3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9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08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8" r:id="rId3"/>
    <p:sldLayoutId id="2147483662" r:id="rId4"/>
    <p:sldLayoutId id="2147483660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20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58800" indent="-28575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lang="ko-KR" alt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25500" indent="-28575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lang="ko-KR" alt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6670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66700" algn="l" defTabSz="914400" rtl="0" eaLnBrk="1" latinLnBrk="1" hangingPunct="1">
        <a:lnSpc>
          <a:spcPct val="150000"/>
        </a:lnSpc>
        <a:spcBef>
          <a:spcPct val="20000"/>
        </a:spcBef>
        <a:buFont typeface="Arial" pitchFamily="34" charset="0"/>
        <a:buChar char="»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A1657BC-A679-AC4F-D705-A098A9D74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PREMO</a:t>
            </a:r>
            <a:r>
              <a:rPr lang="ko-KR" altLang="en-US" dirty="0"/>
              <a:t>를 이용한 </a:t>
            </a:r>
            <a:r>
              <a:rPr lang="en-US" altLang="ko-KR" dirty="0"/>
              <a:t>TV </a:t>
            </a:r>
            <a:r>
              <a:rPr lang="ko-KR" altLang="en-US" dirty="0"/>
              <a:t>디자인 감성 평가 </a:t>
            </a:r>
            <a:r>
              <a:rPr lang="en-US" altLang="ko-KR" dirty="0"/>
              <a:t>progress</a:t>
            </a:r>
            <a:endParaRPr lang="ko-KR" altLang="en-US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BCA3EBF5-F1ED-DAAD-69FF-ECF2C96EE5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0717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83E226B-5A03-727B-D3E5-BA8F5E3DE20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ko-KR" i="1" dirty="0"/>
              <a:t>Kookmin</a:t>
            </a:r>
            <a:r>
              <a:rPr lang="ko-KR" altLang="en-US" i="1" dirty="0"/>
              <a:t> </a:t>
            </a:r>
            <a:r>
              <a:rPr lang="en-US" altLang="ko-KR" i="1" dirty="0"/>
              <a:t>University</a:t>
            </a:r>
          </a:p>
          <a:p>
            <a:r>
              <a:rPr lang="ko-KR" altLang="en-US" dirty="0" err="1"/>
              <a:t>유가을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71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555FD6-10F7-D336-F334-E409C214D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548680"/>
            <a:ext cx="2095792" cy="82879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246C4D1-98DC-B595-5096-34DE6B1EE7E5}"/>
              </a:ext>
            </a:extLst>
          </p:cNvPr>
          <p:cNvSpPr/>
          <p:nvPr/>
        </p:nvSpPr>
        <p:spPr>
          <a:xfrm>
            <a:off x="479376" y="3429000"/>
            <a:ext cx="2808312" cy="763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23A3321-17F4-414E-848F-01581634151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83432" y="1700808"/>
            <a:ext cx="5616624" cy="1068806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000" dirty="0"/>
              <a:t>연구 배경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000" dirty="0"/>
              <a:t>설문 데이터 소개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000" dirty="0"/>
              <a:t>메타 데이터 소개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000" dirty="0"/>
              <a:t>EDA </a:t>
            </a:r>
            <a:r>
              <a:rPr lang="ko-KR" altLang="en-US" sz="2000" dirty="0"/>
              <a:t>탐색적 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89352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연구배경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dirty="0"/>
              <a:t>소비자의 감정은 제품 디자인 평가에 있어서 중요한 요소로 작용함</a:t>
            </a:r>
            <a:r>
              <a:rPr lang="en-US" altLang="ko-KR" dirty="0"/>
              <a:t>. </a:t>
            </a:r>
          </a:p>
          <a:p>
            <a:pPr marL="461963" lvl="1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최근 감정 기반의 추천과 평가 등이 주목받고 있으며</a:t>
            </a:r>
            <a:r>
              <a:rPr lang="en-US" altLang="ko-KR" sz="1400" dirty="0"/>
              <a:t>, </a:t>
            </a:r>
            <a:r>
              <a:rPr lang="ko-KR" altLang="en-US" sz="1400" dirty="0"/>
              <a:t>얼굴 표정 등의 </a:t>
            </a:r>
            <a:r>
              <a:rPr lang="ko-KR" altLang="en-US" sz="1400" dirty="0">
                <a:highlight>
                  <a:srgbClr val="FFFF00"/>
                </a:highlight>
              </a:rPr>
              <a:t>비언어적 자기보고 도구를 통해 감정을 평가하는 연구가 </a:t>
            </a:r>
            <a:r>
              <a:rPr lang="ko-KR" altLang="en-US" sz="1400" dirty="0"/>
              <a:t>증가하고 있음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Desmet</a:t>
            </a:r>
            <a:r>
              <a:rPr lang="en-US" altLang="ko-KR" sz="1400" dirty="0"/>
              <a:t> et al.(2007)</a:t>
            </a:r>
            <a:r>
              <a:rPr lang="ko-KR" altLang="en-US" sz="1400" dirty="0"/>
              <a:t>은 </a:t>
            </a:r>
            <a:r>
              <a:rPr lang="ko-KR" altLang="en-US" sz="1400" u="sng" dirty="0"/>
              <a:t>‘와우’ 경험 유발이 고객들의 제품 선호에 영향을 미친다</a:t>
            </a:r>
            <a:r>
              <a:rPr lang="ko-KR" altLang="en-US" sz="1400" dirty="0"/>
              <a:t>는 사실을 바탕으로</a:t>
            </a:r>
            <a:r>
              <a:rPr lang="en-US" altLang="ko-KR" sz="1400" dirty="0"/>
              <a:t>, </a:t>
            </a:r>
            <a:r>
              <a:rPr lang="ko-KR" altLang="en-US" sz="1400" dirty="0"/>
              <a:t>지속적인 ‘와우’ 경험을 유발할 수 있는 제품 설계 방법을 개발하고자 함</a:t>
            </a:r>
            <a:r>
              <a:rPr lang="en-US" altLang="ko-KR" sz="1400" dirty="0"/>
              <a:t>.</a:t>
            </a:r>
          </a:p>
          <a:p>
            <a:pPr marL="176213" lvl="1" indent="0">
              <a:buNone/>
            </a:pPr>
            <a:endParaRPr lang="en-US" altLang="ko-KR" sz="1400" dirty="0">
              <a:solidFill>
                <a:srgbClr val="222A35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222A35"/>
                </a:solidFill>
              </a:rPr>
              <a:t>PREMO</a:t>
            </a:r>
            <a:r>
              <a:rPr lang="ko-KR" altLang="en-US" dirty="0">
                <a:solidFill>
                  <a:srgbClr val="222A35"/>
                </a:solidFill>
              </a:rPr>
              <a:t>를 통한 감성 평가의 중요성</a:t>
            </a:r>
            <a:endParaRPr lang="en-US" altLang="ko-KR" dirty="0">
              <a:solidFill>
                <a:srgbClr val="222A35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altLang="ko-KR" dirty="0">
                <a:highlight>
                  <a:srgbClr val="FFFF00"/>
                </a:highlight>
              </a:rPr>
              <a:t>PREMO</a:t>
            </a:r>
            <a:r>
              <a:rPr lang="en-US" altLang="ko-KR" dirty="0"/>
              <a:t>(</a:t>
            </a:r>
            <a:r>
              <a:rPr lang="en-US" altLang="ko-KR" dirty="0" err="1"/>
              <a:t>PrEmo</a:t>
            </a:r>
            <a:r>
              <a:rPr lang="en-US" altLang="ko-KR" dirty="0"/>
              <a:t>, Product Emotion Measurement Instrument)</a:t>
            </a:r>
            <a:r>
              <a:rPr lang="ko-KR" altLang="en-US" b="0" dirty="0"/>
              <a:t>는 비언어적 자기 보고 도구로</a:t>
            </a:r>
            <a:r>
              <a:rPr lang="en-US" altLang="ko-KR" b="0" dirty="0"/>
              <a:t>, </a:t>
            </a:r>
            <a:r>
              <a:rPr lang="ko-KR" altLang="en-US" b="0" dirty="0"/>
              <a:t>다양한 감정 반응을 측정하는 데 사용됨</a:t>
            </a:r>
            <a:r>
              <a:rPr lang="en-US" altLang="ko-KR" b="0" dirty="0"/>
              <a:t>. </a:t>
            </a:r>
            <a:r>
              <a:rPr lang="en-US" altLang="ko-KR" b="0" dirty="0" err="1"/>
              <a:t>Desmet</a:t>
            </a:r>
            <a:r>
              <a:rPr lang="en-US" altLang="ko-KR" b="0" dirty="0"/>
              <a:t> et al.(2012)</a:t>
            </a:r>
            <a:r>
              <a:rPr lang="ko-KR" altLang="en-US" b="0" dirty="0"/>
              <a:t>는 </a:t>
            </a:r>
            <a:r>
              <a:rPr lang="ko-KR" altLang="en-US" b="0" u="sng" dirty="0"/>
              <a:t>감정이 제품 구매 결정과 만족도에 큰 영향을 미친다는 점을 기반</a:t>
            </a:r>
            <a:r>
              <a:rPr lang="ko-KR" altLang="en-US" b="0" dirty="0"/>
              <a:t>으로</a:t>
            </a:r>
            <a:r>
              <a:rPr lang="en-US" altLang="ko-KR" b="0" dirty="0"/>
              <a:t>, </a:t>
            </a:r>
            <a:r>
              <a:rPr lang="ko-KR" altLang="en-US" b="0" dirty="0"/>
              <a:t>제품 디자인에서의 감정 연구 활용 방안을 제시함</a:t>
            </a:r>
            <a:r>
              <a:rPr lang="en-US" altLang="ko-KR" b="0" dirty="0"/>
              <a:t>.</a:t>
            </a:r>
            <a:endParaRPr lang="en-US" altLang="ko-KR" b="0" dirty="0">
              <a:solidFill>
                <a:srgbClr val="222A35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altLang="ko-KR" b="0" dirty="0"/>
              <a:t>PREMO</a:t>
            </a:r>
            <a:r>
              <a:rPr lang="ko-KR" altLang="en-US" b="0" dirty="0"/>
              <a:t>의 주요 장점은 언어와 무관하여 다양한 문화권에서 사용할 수 있으며</a:t>
            </a:r>
            <a:r>
              <a:rPr lang="en-US" altLang="ko-KR" b="0" dirty="0"/>
              <a:t>, </a:t>
            </a:r>
            <a:r>
              <a:rPr lang="ko-KR" altLang="en-US" b="0" dirty="0"/>
              <a:t>참가자를 방해하지 않기 때문에 눈에 거슬리지 않는다는 것임</a:t>
            </a:r>
            <a:r>
              <a:rPr lang="en-US" altLang="ko-KR" b="0" dirty="0"/>
              <a:t>. </a:t>
            </a:r>
            <a:r>
              <a:rPr lang="ko-KR" altLang="en-US" b="0" dirty="0"/>
              <a:t>또한</a:t>
            </a:r>
            <a:r>
              <a:rPr lang="en-US" altLang="ko-KR" b="0" dirty="0"/>
              <a:t>, </a:t>
            </a:r>
            <a:r>
              <a:rPr lang="en-US" altLang="ko-KR" b="0" dirty="0" err="1"/>
              <a:t>PrEmo</a:t>
            </a:r>
            <a:r>
              <a:rPr lang="ko-KR" altLang="en-US" b="0" dirty="0"/>
              <a:t>는 혼합 감정을 측정할 수 있으며</a:t>
            </a:r>
            <a:r>
              <a:rPr lang="en-US" altLang="ko-KR" b="0" dirty="0"/>
              <a:t>, </a:t>
            </a:r>
            <a:r>
              <a:rPr lang="ko-KR" altLang="en-US" b="0" dirty="0"/>
              <a:t>고가의 장비나 기술적 전문 지식이 필요하지 않음</a:t>
            </a:r>
            <a:r>
              <a:rPr lang="en-US" altLang="ko-KR" b="0" dirty="0"/>
              <a:t>.</a:t>
            </a:r>
            <a:endParaRPr lang="en-US" altLang="ko-KR" b="0" dirty="0">
              <a:solidFill>
                <a:srgbClr val="222A35"/>
              </a:solidFill>
            </a:endParaRPr>
          </a:p>
          <a:p>
            <a:pPr marL="176213" lvl="1" indent="0">
              <a:buNone/>
            </a:pPr>
            <a:endParaRPr lang="en-US" altLang="ko-KR" sz="1400" dirty="0">
              <a:solidFill>
                <a:srgbClr val="222A35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dirty="0"/>
              <a:t>기존의 </a:t>
            </a:r>
            <a:r>
              <a:rPr lang="en-US" altLang="ko-KR" dirty="0"/>
              <a:t>"</a:t>
            </a:r>
            <a:r>
              <a:rPr lang="ko-KR" altLang="en-US" dirty="0">
                <a:highlight>
                  <a:srgbClr val="FFFF00"/>
                </a:highlight>
              </a:rPr>
              <a:t>전반적인 만족도</a:t>
            </a:r>
            <a:r>
              <a:rPr lang="en-US" altLang="ko-KR" dirty="0"/>
              <a:t>" </a:t>
            </a:r>
            <a:r>
              <a:rPr lang="ko-KR" altLang="en-US" dirty="0"/>
              <a:t>기반의 디자인 평가는 소비자의 </a:t>
            </a:r>
            <a:r>
              <a:rPr lang="ko-KR" altLang="en-US" dirty="0">
                <a:highlight>
                  <a:srgbClr val="FFFF00"/>
                </a:highlight>
              </a:rPr>
              <a:t>긍정 감정과 부정 감정을 동시에 고려하지 못하는 한계</a:t>
            </a:r>
            <a:r>
              <a:rPr lang="ko-KR" altLang="en-US" dirty="0"/>
              <a:t>가 있음</a:t>
            </a:r>
            <a:r>
              <a:rPr lang="en-US" altLang="ko-KR" dirty="0"/>
              <a:t>.</a:t>
            </a:r>
            <a:br>
              <a:rPr lang="en-US" altLang="ko-KR" b="0" dirty="0">
                <a:solidFill>
                  <a:srgbClr val="222A35"/>
                </a:solidFill>
              </a:rPr>
            </a:br>
            <a:r>
              <a:rPr lang="en-US" altLang="ko-KR" b="0" dirty="0">
                <a:solidFill>
                  <a:srgbClr val="222A35"/>
                </a:solidFill>
              </a:rPr>
              <a:t>     </a:t>
            </a:r>
            <a:r>
              <a:rPr lang="en-US" altLang="ko-KR" b="0" i="1" dirty="0">
                <a:solidFill>
                  <a:srgbClr val="222A35"/>
                </a:solidFill>
              </a:rPr>
              <a:t>1.</a:t>
            </a:r>
            <a:r>
              <a:rPr lang="en-US" altLang="ko-KR" b="0" dirty="0">
                <a:solidFill>
                  <a:srgbClr val="222A35"/>
                </a:solidFill>
              </a:rPr>
              <a:t> </a:t>
            </a:r>
            <a:r>
              <a:rPr lang="ko-KR" altLang="en-US" b="0" dirty="0"/>
              <a:t>소비자의 감정적 반응을 더 깊이 이해하고 이를 제품 디자인에 반영하는 것이 중요</a:t>
            </a:r>
            <a:endParaRPr lang="en-US" altLang="ko-KR" b="0" dirty="0"/>
          </a:p>
          <a:p>
            <a:pPr marL="0" indent="0" algn="l">
              <a:buNone/>
            </a:pPr>
            <a:r>
              <a:rPr lang="en-US" altLang="ko-KR" b="0" i="1" dirty="0">
                <a:solidFill>
                  <a:srgbClr val="222A35"/>
                </a:solidFill>
              </a:rPr>
              <a:t>          2. </a:t>
            </a:r>
            <a:r>
              <a:rPr lang="en-US" altLang="ko-KR" b="0" dirty="0"/>
              <a:t>KANO </a:t>
            </a:r>
            <a:r>
              <a:rPr lang="ko-KR" altLang="en-US" b="0" dirty="0"/>
              <a:t>모델은 매력적 품질 요소</a:t>
            </a:r>
            <a:r>
              <a:rPr lang="en-US" altLang="ko-KR" b="0" dirty="0"/>
              <a:t>, </a:t>
            </a:r>
            <a:r>
              <a:rPr lang="ko-KR" altLang="en-US" b="0" dirty="0"/>
              <a:t>일차원적 품질 요소</a:t>
            </a:r>
            <a:r>
              <a:rPr lang="en-US" altLang="ko-KR" b="0" dirty="0"/>
              <a:t>, </a:t>
            </a:r>
            <a:r>
              <a:rPr lang="ko-KR" altLang="en-US" b="0" dirty="0"/>
              <a:t>당위적 품질 요소</a:t>
            </a:r>
            <a:r>
              <a:rPr lang="en-US" altLang="ko-KR" b="0" dirty="0"/>
              <a:t>, </a:t>
            </a:r>
            <a:r>
              <a:rPr lang="ko-KR" altLang="en-US" b="0" dirty="0"/>
              <a:t>무차별 품질 요소</a:t>
            </a:r>
            <a:r>
              <a:rPr lang="en-US" altLang="ko-KR" b="0" dirty="0"/>
              <a:t>, </a:t>
            </a:r>
            <a:r>
              <a:rPr lang="ko-KR" altLang="en-US" b="0" dirty="0"/>
              <a:t>역 품질 요소로 구성되어 있어</a:t>
            </a:r>
            <a:r>
              <a:rPr lang="en-US" altLang="ko-KR" b="0" dirty="0"/>
              <a:t>, </a:t>
            </a:r>
            <a:r>
              <a:rPr lang="ko-KR" altLang="en-US" b="0" dirty="0"/>
              <a:t>다양               </a:t>
            </a:r>
            <a:endParaRPr lang="en-US" altLang="ko-KR" b="0" dirty="0"/>
          </a:p>
          <a:p>
            <a:pPr marL="0" indent="0" algn="l">
              <a:buNone/>
            </a:pPr>
            <a:r>
              <a:rPr lang="en-US" altLang="ko-KR" b="0" dirty="0"/>
              <a:t>             </a:t>
            </a:r>
            <a:r>
              <a:rPr lang="ko-KR" altLang="en-US" b="0" dirty="0"/>
              <a:t>한 디자인 옵션을 제안하며 디자인 감성을 추출할 수 있는 도구로 사용될 수 있음</a:t>
            </a:r>
            <a:r>
              <a:rPr lang="en-US" altLang="ko-KR" b="0" dirty="0"/>
              <a:t>.</a:t>
            </a:r>
            <a:br>
              <a:rPr lang="en-US" altLang="ko-KR" b="0" dirty="0">
                <a:solidFill>
                  <a:srgbClr val="222A35"/>
                </a:solidFill>
              </a:rPr>
            </a:br>
            <a:r>
              <a:rPr lang="en-US" altLang="ko-KR" b="0" dirty="0">
                <a:solidFill>
                  <a:srgbClr val="222A35"/>
                </a:solidFill>
              </a:rPr>
              <a:t>      </a:t>
            </a:r>
          </a:p>
          <a:p>
            <a:pPr marL="0" indent="0" algn="l">
              <a:buNone/>
            </a:pPr>
            <a:r>
              <a:rPr lang="ko-KR" altLang="en-US" sz="1800" b="0" dirty="0">
                <a:solidFill>
                  <a:srgbClr val="222A35"/>
                </a:solidFill>
              </a:rPr>
              <a:t>→ </a:t>
            </a:r>
            <a:r>
              <a:rPr lang="en-US" altLang="ko-KR" sz="1800" b="0" dirty="0">
                <a:solidFill>
                  <a:srgbClr val="222A35"/>
                </a:solidFill>
              </a:rPr>
              <a:t>PREMO</a:t>
            </a:r>
            <a:r>
              <a:rPr lang="ko-KR" altLang="en-US" sz="1800" b="0" dirty="0">
                <a:solidFill>
                  <a:srgbClr val="222A35"/>
                </a:solidFill>
              </a:rPr>
              <a:t>를 이용한 감성 평가 데이터로 </a:t>
            </a:r>
            <a:r>
              <a:rPr lang="ko-KR" altLang="en-US" sz="1800" u="sng" dirty="0">
                <a:solidFill>
                  <a:srgbClr val="C00000"/>
                </a:solidFill>
              </a:rPr>
              <a:t>어떤 디자인 요소가 특정 감정을 유발하는지</a:t>
            </a:r>
            <a:r>
              <a:rPr lang="en-US" altLang="ko-KR" sz="1800" u="sng" dirty="0">
                <a:solidFill>
                  <a:srgbClr val="C00000"/>
                </a:solidFill>
              </a:rPr>
              <a:t>, </a:t>
            </a:r>
          </a:p>
          <a:p>
            <a:pPr marL="0" indent="0" algn="l">
              <a:buNone/>
            </a:pPr>
            <a:r>
              <a:rPr lang="en-US" altLang="ko-KR" sz="1800" dirty="0">
                <a:solidFill>
                  <a:srgbClr val="C00000"/>
                </a:solidFill>
              </a:rPr>
              <a:t>    </a:t>
            </a:r>
            <a:r>
              <a:rPr lang="ko-KR" altLang="en-US" sz="1800" u="sng" dirty="0">
                <a:solidFill>
                  <a:srgbClr val="C00000"/>
                </a:solidFill>
              </a:rPr>
              <a:t>감정 반응의 패턴을 도출하여 디자인 개선에 대한 인사이트 제공 가능</a:t>
            </a:r>
            <a:r>
              <a:rPr lang="en-US" altLang="ko-KR" sz="1800" u="sng" dirty="0">
                <a:solidFill>
                  <a:srgbClr val="C00000"/>
                </a:solidFill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45828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88DD-BE41-6C04-646C-4B9AC1785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9" y="1196752"/>
            <a:ext cx="5492800" cy="525658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dirty="0"/>
              <a:t>기존 설문 데이터 </a:t>
            </a:r>
            <a:r>
              <a:rPr lang="ko-KR" altLang="en-US" dirty="0" err="1"/>
              <a:t>코드북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6AEB739-00FA-8C47-FEB9-80DF397E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설문 데이터 소개 </a:t>
            </a:r>
            <a:r>
              <a:rPr lang="en-US" altLang="ko-KR" sz="2800" dirty="0"/>
              <a:t>– </a:t>
            </a:r>
            <a:r>
              <a:rPr lang="ko-KR" altLang="en-US" sz="2800" dirty="0" err="1"/>
              <a:t>코드북</a:t>
            </a:r>
            <a:r>
              <a:rPr lang="ko-KR" altLang="en-US" sz="2800" dirty="0"/>
              <a:t> 수정 사항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2E722A-1AFD-3E31-40B1-EF7879B91B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887"/>
          <a:stretch/>
        </p:blipFill>
        <p:spPr>
          <a:xfrm>
            <a:off x="825915" y="1700808"/>
            <a:ext cx="5256584" cy="3213084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7AEB780-6031-7B61-D890-4B7E38910802}"/>
              </a:ext>
            </a:extLst>
          </p:cNvPr>
          <p:cNvSpPr txBox="1">
            <a:spLocks/>
          </p:cNvSpPr>
          <p:nvPr/>
        </p:nvSpPr>
        <p:spPr>
          <a:xfrm>
            <a:off x="6291832" y="1196752"/>
            <a:ext cx="5492800" cy="5256583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dirty="0"/>
              <a:t>수정 설문 데이터 </a:t>
            </a:r>
            <a:r>
              <a:rPr lang="ko-KR" altLang="en-US" dirty="0" err="1"/>
              <a:t>코드북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endParaRPr lang="ko-KR" altLang="en-US" dirty="0"/>
          </a:p>
          <a:p>
            <a:pPr marL="0" indent="0">
              <a:buFont typeface="Arial" pitchFamily="34" charset="0"/>
              <a:buNone/>
            </a:pP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A640B12-CE05-4BEA-DE55-4F1A6BCE5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879" y="1700807"/>
            <a:ext cx="5456980" cy="2880321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BD354BF-1725-769A-4A6E-D2B2F8DA8DEE}"/>
              </a:ext>
            </a:extLst>
          </p:cNvPr>
          <p:cNvSpPr txBox="1">
            <a:spLocks/>
          </p:cNvSpPr>
          <p:nvPr/>
        </p:nvSpPr>
        <p:spPr>
          <a:xfrm>
            <a:off x="767408" y="5193194"/>
            <a:ext cx="11121711" cy="1332150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2000" b="0" dirty="0">
                <a:solidFill>
                  <a:srgbClr val="222A35"/>
                </a:solidFill>
              </a:rPr>
              <a:t>→ </a:t>
            </a:r>
            <a:r>
              <a:rPr lang="ko-KR" altLang="en-US" sz="1800" b="0" dirty="0">
                <a:solidFill>
                  <a:srgbClr val="222A35"/>
                </a:solidFill>
              </a:rPr>
              <a:t>기존 알아보기 힘들었던 </a:t>
            </a:r>
            <a:r>
              <a:rPr lang="ko-KR" altLang="en-US" sz="1800" b="0" dirty="0" err="1">
                <a:solidFill>
                  <a:srgbClr val="222A35"/>
                </a:solidFill>
              </a:rPr>
              <a:t>코드북에서</a:t>
            </a:r>
            <a:r>
              <a:rPr lang="ko-KR" altLang="en-US" sz="1800" b="0" dirty="0">
                <a:solidFill>
                  <a:srgbClr val="222A35"/>
                </a:solidFill>
              </a:rPr>
              <a:t> 깔끔한 디자인으로 변경</a:t>
            </a:r>
            <a:r>
              <a:rPr lang="en-US" altLang="ko-KR" sz="1800" b="0" dirty="0">
                <a:solidFill>
                  <a:srgbClr val="222A35"/>
                </a:solidFill>
              </a:rPr>
              <a:t>.</a:t>
            </a:r>
          </a:p>
          <a:p>
            <a:pPr marL="0" indent="0">
              <a:buFont typeface="Arial" pitchFamily="34" charset="0"/>
              <a:buNone/>
            </a:pPr>
            <a:r>
              <a:rPr lang="ko-KR" altLang="en-US" sz="1800" b="0" dirty="0">
                <a:solidFill>
                  <a:srgbClr val="222A35"/>
                </a:solidFill>
              </a:rPr>
              <a:t>→ 차후 새로운 요인 분석을 통해 요인을 나눌 것이기 때문에 기존 </a:t>
            </a:r>
            <a:r>
              <a:rPr lang="en-US" altLang="ko-KR" sz="1800" b="0" dirty="0">
                <a:solidFill>
                  <a:srgbClr val="222A35"/>
                </a:solidFill>
              </a:rPr>
              <a:t>Factor 1~3 </a:t>
            </a:r>
            <a:r>
              <a:rPr lang="ko-KR" altLang="en-US" sz="1800" b="0" dirty="0">
                <a:solidFill>
                  <a:srgbClr val="222A35"/>
                </a:solidFill>
              </a:rPr>
              <a:t>부분 통합.</a:t>
            </a:r>
            <a:endParaRPr lang="en-US" altLang="ko-KR" sz="1800" b="0" dirty="0">
              <a:solidFill>
                <a:srgbClr val="222A35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ko-KR" altLang="en-US" sz="1800" b="0" dirty="0">
                <a:solidFill>
                  <a:srgbClr val="222A35"/>
                </a:solidFill>
              </a:rPr>
              <a:t>→ 평가된 항목인 </a:t>
            </a:r>
            <a:r>
              <a:rPr lang="en-US" altLang="ko-KR" sz="1800" b="0" dirty="0">
                <a:solidFill>
                  <a:srgbClr val="222A35"/>
                </a:solidFill>
              </a:rPr>
              <a:t>E1~14 </a:t>
            </a:r>
            <a:r>
              <a:rPr lang="ko-KR" altLang="en-US" sz="1800" b="0" dirty="0">
                <a:solidFill>
                  <a:srgbClr val="222A35"/>
                </a:solidFill>
              </a:rPr>
              <a:t>와 </a:t>
            </a:r>
            <a:r>
              <a:rPr lang="en-US" altLang="ko-KR" sz="1800" b="0" dirty="0">
                <a:solidFill>
                  <a:srgbClr val="222A35"/>
                </a:solidFill>
              </a:rPr>
              <a:t>A1~15 </a:t>
            </a:r>
            <a:r>
              <a:rPr lang="ko-KR" altLang="en-US" sz="1800" b="0" dirty="0">
                <a:solidFill>
                  <a:srgbClr val="222A35"/>
                </a:solidFill>
              </a:rPr>
              <a:t>의 색 나눠 인식 편하게 함</a:t>
            </a:r>
            <a:r>
              <a:rPr lang="en-US" altLang="ko-KR" sz="1800" b="0" dirty="0">
                <a:solidFill>
                  <a:srgbClr val="222A35"/>
                </a:solidFill>
              </a:rPr>
              <a:t>.</a:t>
            </a:r>
            <a:endParaRPr lang="ko-KR" altLang="en-US" sz="1800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50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설문 데이터 소개 </a:t>
            </a:r>
            <a:r>
              <a:rPr lang="en-US" altLang="ko-KR" sz="2800" dirty="0"/>
              <a:t>– </a:t>
            </a:r>
            <a:r>
              <a:rPr lang="ko-KR" altLang="en-US" sz="2800" dirty="0"/>
              <a:t>데이터 개요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수집 대상 </a:t>
            </a:r>
            <a:r>
              <a:rPr lang="en-US" altLang="ko-KR" sz="1800" b="0" dirty="0"/>
              <a:t>: </a:t>
            </a:r>
            <a:r>
              <a:rPr lang="ko-KR" altLang="en-US" sz="1800" b="0" dirty="0"/>
              <a:t>우리나라 나이 </a:t>
            </a:r>
            <a:r>
              <a:rPr lang="en-US" altLang="ko-KR" sz="1800" b="0" dirty="0"/>
              <a:t>25</a:t>
            </a:r>
            <a:r>
              <a:rPr lang="ko-KR" altLang="en-US" sz="1800" b="0" dirty="0"/>
              <a:t>세 </a:t>
            </a:r>
            <a:r>
              <a:rPr lang="en-US" altLang="ko-KR" sz="1800" b="0" dirty="0"/>
              <a:t>~ 54</a:t>
            </a:r>
            <a:r>
              <a:rPr lang="ko-KR" altLang="en-US" sz="1800" b="0" dirty="0"/>
              <a:t>세 남녀</a:t>
            </a:r>
            <a:endParaRPr lang="en-US" altLang="ko-KR" sz="1800" b="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감성 평가 </a:t>
            </a:r>
            <a:r>
              <a:rPr lang="en-US" altLang="ko-KR" sz="1800" b="0" dirty="0"/>
              <a:t>: </a:t>
            </a:r>
          </a:p>
          <a:p>
            <a:pPr marL="0" indent="0" algn="l">
              <a:buNone/>
            </a:pPr>
            <a:r>
              <a:rPr lang="en-US" altLang="ko-KR" sz="1800" b="0" dirty="0"/>
              <a:t>	1. 5</a:t>
            </a:r>
            <a:r>
              <a:rPr lang="ko-KR" altLang="en-US" sz="1800" b="0" dirty="0"/>
              <a:t>가지 종류의 </a:t>
            </a:r>
            <a:r>
              <a:rPr lang="en-US" altLang="ko-KR" sz="1800" b="0" dirty="0"/>
              <a:t>TV </a:t>
            </a:r>
            <a:r>
              <a:rPr lang="ko-KR" altLang="en-US" sz="1800" b="0" dirty="0"/>
              <a:t>디자인을 각 세트로 묶어 한 사람 당 총 </a:t>
            </a:r>
            <a:r>
              <a:rPr lang="en-US" altLang="ko-KR" sz="1800" b="0" dirty="0"/>
              <a:t>5</a:t>
            </a:r>
            <a:r>
              <a:rPr lang="ko-KR" altLang="en-US" sz="1800" b="0" dirty="0"/>
              <a:t>가지의 </a:t>
            </a:r>
            <a:r>
              <a:rPr lang="en-US" altLang="ko-KR" sz="1800" b="0" dirty="0"/>
              <a:t>TV </a:t>
            </a:r>
            <a:r>
              <a:rPr lang="ko-KR" altLang="en-US" sz="1800" b="0" dirty="0"/>
              <a:t>디자인을 평가하게 함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2. TV </a:t>
            </a:r>
            <a:r>
              <a:rPr lang="ko-KR" altLang="en-US" sz="1800" b="0" dirty="0"/>
              <a:t>디자인에 대한 선호도와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PrEmo</a:t>
            </a:r>
            <a:r>
              <a:rPr lang="ko-KR" altLang="en-US" sz="1800" b="0" dirty="0"/>
              <a:t>를 이용한 감정을 점수로 매기게끔 함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3. TV</a:t>
            </a:r>
            <a:r>
              <a:rPr lang="ko-KR" altLang="en-US" sz="1800" b="0" dirty="0"/>
              <a:t> 디자인에 대한 주관적 의견도 추가로 수집함</a:t>
            </a:r>
            <a:r>
              <a:rPr lang="en-US" altLang="ko-KR" sz="1800" b="0" dirty="0"/>
              <a:t>. (</a:t>
            </a:r>
            <a:r>
              <a:rPr lang="ko-KR" altLang="en-US" sz="1800" b="0" dirty="0"/>
              <a:t>고급스러운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차별화된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세련된</a:t>
            </a:r>
            <a:r>
              <a:rPr lang="en-US" altLang="ko-KR" sz="1800" b="0" dirty="0"/>
              <a:t>… </a:t>
            </a:r>
            <a:r>
              <a:rPr lang="en-US" altLang="ko-KR" sz="1800" b="0" dirty="0" err="1"/>
              <a:t>etc</a:t>
            </a:r>
            <a:r>
              <a:rPr lang="en-US" altLang="ko-KR" sz="1800" b="0" dirty="0"/>
              <a:t>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altLang="ko-KR" sz="1800" b="0" dirty="0"/>
              <a:t> </a:t>
            </a:r>
            <a:r>
              <a:rPr lang="ko-KR" altLang="en-US" sz="1800" dirty="0"/>
              <a:t>추가 질문 </a:t>
            </a:r>
            <a:r>
              <a:rPr lang="en-US" altLang="ko-KR" sz="1800" b="0" dirty="0"/>
              <a:t>: </a:t>
            </a:r>
            <a:r>
              <a:rPr lang="ko-KR" altLang="en-US" sz="1800" b="0" dirty="0"/>
              <a:t>월 평균 소득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하루 평균 인터넷 사용 시간에 대한 정보를 추가로 수집함</a:t>
            </a:r>
            <a:r>
              <a:rPr lang="en-US" altLang="ko-KR" sz="1800" b="0" dirty="0"/>
              <a:t>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수집된 </a:t>
            </a:r>
            <a:r>
              <a:rPr lang="en-US" altLang="ko-KR" sz="1800" dirty="0"/>
              <a:t>Raw Data </a:t>
            </a:r>
            <a:r>
              <a:rPr lang="ko-KR" altLang="en-US" sz="1800" dirty="0"/>
              <a:t>일부</a:t>
            </a:r>
            <a:endParaRPr lang="en-US" altLang="ko-KR" sz="1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48DAB9-4412-080B-CF13-450B6B2C2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55" y="4077072"/>
            <a:ext cx="9412013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설문 데이터 소개 </a:t>
            </a:r>
            <a:r>
              <a:rPr lang="en-US" altLang="ko-KR" sz="2800" dirty="0"/>
              <a:t>– </a:t>
            </a:r>
            <a:r>
              <a:rPr lang="ko-KR" altLang="en-US" sz="2800" dirty="0"/>
              <a:t>데이터 개요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800" dirty="0"/>
              <a:t>Evaluation</a:t>
            </a:r>
            <a:r>
              <a:rPr lang="en-US" altLang="ko-KR" sz="1800" b="0" dirty="0"/>
              <a:t> : TV </a:t>
            </a:r>
            <a:r>
              <a:rPr lang="ko-KR" altLang="en-US" sz="1800" b="0" dirty="0"/>
              <a:t>디자인에 대한 선호도를 매력 </a:t>
            </a:r>
            <a:r>
              <a:rPr lang="en-US" altLang="ko-KR" sz="1800" b="0" dirty="0"/>
              <a:t>/ </a:t>
            </a:r>
            <a:r>
              <a:rPr lang="ko-KR" altLang="en-US" sz="1800" b="0" dirty="0"/>
              <a:t>호감 두 부류로 나누어 설문 진행</a:t>
            </a:r>
            <a:r>
              <a:rPr lang="en-US" altLang="ko-KR" sz="1800" b="0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800" dirty="0"/>
              <a:t>Aesthetic</a:t>
            </a:r>
            <a:r>
              <a:rPr lang="ko-KR" altLang="en-US" sz="1800" dirty="0"/>
              <a:t> </a:t>
            </a:r>
            <a:r>
              <a:rPr lang="en-US" altLang="ko-KR" sz="1800" dirty="0"/>
              <a:t>value</a:t>
            </a:r>
            <a:r>
              <a:rPr lang="ko-KR" altLang="en-US" sz="1800" dirty="0"/>
              <a:t> </a:t>
            </a:r>
            <a:r>
              <a:rPr lang="en-US" altLang="ko-KR" sz="1800" dirty="0"/>
              <a:t>(PREMO)</a:t>
            </a:r>
            <a:r>
              <a:rPr lang="ko-KR" altLang="en-US" sz="1800" dirty="0"/>
              <a:t> 평가 </a:t>
            </a:r>
            <a:r>
              <a:rPr lang="en-US" altLang="ko-KR" sz="1800" b="0" dirty="0"/>
              <a:t>:</a:t>
            </a:r>
          </a:p>
          <a:p>
            <a:pPr marL="649288" lvl="2" indent="-285750">
              <a:buFont typeface="Wingdings" panose="05000000000000000000" pitchFamily="2" charset="2"/>
              <a:buChar char="§"/>
            </a:pPr>
            <a:r>
              <a:rPr lang="en-US" altLang="ko-KR" sz="1500" b="0" dirty="0"/>
              <a:t>E1</a:t>
            </a:r>
            <a:r>
              <a:rPr lang="ko-KR" altLang="en-US" sz="1500" b="0" dirty="0"/>
              <a:t>부터 </a:t>
            </a:r>
            <a:r>
              <a:rPr lang="en-US" altLang="ko-KR" sz="1500" b="0" dirty="0"/>
              <a:t>E14</a:t>
            </a:r>
            <a:r>
              <a:rPr lang="ko-KR" altLang="en-US" sz="1500" b="0" dirty="0"/>
              <a:t>까지 총 </a:t>
            </a:r>
            <a:r>
              <a:rPr lang="en-US" altLang="ko-KR" sz="1500" b="0" dirty="0"/>
              <a:t>14</a:t>
            </a:r>
            <a:r>
              <a:rPr lang="ko-KR" altLang="en-US" sz="1500" b="0" dirty="0"/>
              <a:t>가지의 감정 애니메이션을 보여 주고 </a:t>
            </a:r>
            <a:r>
              <a:rPr lang="en-US" altLang="ko-KR" sz="1500" b="0" dirty="0"/>
              <a:t>1</a:t>
            </a:r>
            <a:r>
              <a:rPr lang="ko-KR" altLang="en-US" sz="1500" b="0" dirty="0"/>
              <a:t>점</a:t>
            </a:r>
            <a:r>
              <a:rPr lang="en-US" altLang="ko-KR" sz="1500" b="0" dirty="0"/>
              <a:t>~7</a:t>
            </a:r>
            <a:r>
              <a:rPr lang="ko-KR" altLang="en-US" sz="1500" b="0" dirty="0"/>
              <a:t>점 사이의 점수를 매길 수 있게 함</a:t>
            </a:r>
            <a:r>
              <a:rPr lang="en-US" altLang="ko-KR" sz="1500" b="0" dirty="0"/>
              <a:t>.</a:t>
            </a:r>
          </a:p>
          <a:p>
            <a:pPr marL="649288" lvl="2" indent="-285750">
              <a:buFont typeface="Wingdings" panose="05000000000000000000" pitchFamily="2" charset="2"/>
              <a:buChar char="§"/>
            </a:pPr>
            <a:endParaRPr lang="en-US" altLang="ko-KR" sz="1500" b="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endParaRPr lang="en-US" altLang="ko-KR" sz="150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endParaRPr lang="en-US" altLang="ko-KR" sz="1500" b="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endParaRPr lang="en-US" altLang="ko-KR" sz="150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endParaRPr lang="en-US" altLang="ko-KR" sz="1500" b="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endParaRPr lang="en-US" altLang="ko-KR" sz="150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endParaRPr lang="en-US" altLang="ko-KR" sz="1500" b="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1800" b="0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800" dirty="0"/>
              <a:t>Aesthetic value (Self-report)</a:t>
            </a:r>
            <a:r>
              <a:rPr lang="ko-KR" altLang="en-US" sz="1800" dirty="0"/>
              <a:t> </a:t>
            </a:r>
            <a:r>
              <a:rPr lang="en-US" altLang="ko-KR" sz="1800" b="0" dirty="0"/>
              <a:t>: </a:t>
            </a:r>
          </a:p>
          <a:p>
            <a:pPr marL="649288" lvl="2" indent="-285750">
              <a:buFont typeface="Wingdings" panose="05000000000000000000" pitchFamily="2" charset="2"/>
              <a:buChar char="§"/>
            </a:pPr>
            <a:r>
              <a:rPr lang="ko-KR" altLang="en-US" sz="1500" b="0" dirty="0"/>
              <a:t>응답자들에게 </a:t>
            </a:r>
            <a:r>
              <a:rPr lang="en-US" altLang="ko-KR" sz="1500" b="0" dirty="0"/>
              <a:t>TV</a:t>
            </a:r>
            <a:r>
              <a:rPr lang="ko-KR" altLang="en-US" sz="1500" dirty="0"/>
              <a:t> 디자인에 대한 주관적 의견을 질문하고</a:t>
            </a:r>
            <a:r>
              <a:rPr lang="en-US" altLang="ko-KR" sz="1500" dirty="0"/>
              <a:t>, </a:t>
            </a:r>
            <a:r>
              <a:rPr lang="ko-KR" altLang="en-US" sz="1500" dirty="0"/>
              <a:t>이를 </a:t>
            </a:r>
            <a:r>
              <a:rPr lang="en-US" altLang="ko-KR" sz="1500" dirty="0"/>
              <a:t>A1</a:t>
            </a:r>
            <a:r>
              <a:rPr lang="ko-KR" altLang="en-US" sz="1500" dirty="0"/>
              <a:t>부터 </a:t>
            </a:r>
            <a:r>
              <a:rPr lang="en-US" altLang="ko-KR" sz="1500" dirty="0"/>
              <a:t>A15</a:t>
            </a:r>
            <a:r>
              <a:rPr lang="ko-KR" altLang="en-US" sz="1500" dirty="0"/>
              <a:t>까지의 범주로 그룹화하였다</a:t>
            </a:r>
            <a:r>
              <a:rPr lang="en-US" altLang="ko-KR" sz="1500" dirty="0"/>
              <a:t>.</a:t>
            </a:r>
            <a:endParaRPr lang="en-US" altLang="ko-KR" sz="1500" b="0" dirty="0"/>
          </a:p>
          <a:p>
            <a:pPr marL="0" indent="0" algn="l">
              <a:buNone/>
            </a:pPr>
            <a:r>
              <a:rPr lang="en-US" altLang="ko-KR" sz="1800" b="0" dirty="0"/>
              <a:t>	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E810C5-5F04-487E-AB7D-3653BBBACF6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55440" y="2247993"/>
            <a:ext cx="3591453" cy="2362014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688903-4B19-0590-3A0A-6C01A81BD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290238"/>
              </p:ext>
            </p:extLst>
          </p:nvPr>
        </p:nvGraphicFramePr>
        <p:xfrm>
          <a:off x="1775520" y="5420320"/>
          <a:ext cx="8128000" cy="889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50054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수집된 </a:t>
                      </a:r>
                      <a:r>
                        <a:rPr lang="en-US" altLang="ko-KR" sz="1400" b="1" dirty="0"/>
                        <a:t>Self-</a:t>
                      </a:r>
                      <a:r>
                        <a:rPr lang="en-US" altLang="ko-KR" sz="1400" b="1" dirty="0" err="1"/>
                        <a:t>reoprt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41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고급스러운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차별화된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세련된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편안한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깔끔한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첨단적인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실내 인테리어와 잘 어울리는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컬러풀한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즐거운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튼튼한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아름다운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똑똑한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친숙한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안정적인</a:t>
                      </a:r>
                      <a:r>
                        <a:rPr lang="en-US" altLang="ko-KR" sz="1400" dirty="0"/>
                        <a:t>, TV </a:t>
                      </a:r>
                      <a:r>
                        <a:rPr lang="ko-KR" altLang="en-US" sz="1400" dirty="0"/>
                        <a:t>보기에 적합한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87923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9AF7F09-3282-121B-A21C-1858B8BA2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633629"/>
              </p:ext>
            </p:extLst>
          </p:nvPr>
        </p:nvGraphicFramePr>
        <p:xfrm>
          <a:off x="4832471" y="2658682"/>
          <a:ext cx="6808145" cy="15624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5813">
                  <a:extLst>
                    <a:ext uri="{9D8B030D-6E8A-4147-A177-3AD203B41FA5}">
                      <a16:colId xmlns:a16="http://schemas.microsoft.com/office/drawing/2014/main" val="1288446855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891262216"/>
                    </a:ext>
                  </a:extLst>
                </a:gridCol>
                <a:gridCol w="817563">
                  <a:extLst>
                    <a:ext uri="{9D8B030D-6E8A-4147-A177-3AD203B41FA5}">
                      <a16:colId xmlns:a16="http://schemas.microsoft.com/office/drawing/2014/main" val="1391720198"/>
                    </a:ext>
                  </a:extLst>
                </a:gridCol>
                <a:gridCol w="1312863">
                  <a:extLst>
                    <a:ext uri="{9D8B030D-6E8A-4147-A177-3AD203B41FA5}">
                      <a16:colId xmlns:a16="http://schemas.microsoft.com/office/drawing/2014/main" val="189849025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398404197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3925861344"/>
                    </a:ext>
                  </a:extLst>
                </a:gridCol>
                <a:gridCol w="726430">
                  <a:extLst>
                    <a:ext uri="{9D8B030D-6E8A-4147-A177-3AD203B41FA5}">
                      <a16:colId xmlns:a16="http://schemas.microsoft.com/office/drawing/2014/main" val="400121842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9897"/>
                  </a:ext>
                </a:extLst>
              </a:tr>
              <a:tr h="4822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Desire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Pleasant surprise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Amusement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Inspiration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Admiration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Satisfaction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Fascination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extLst>
                  <a:ext uri="{0D108BD9-81ED-4DB2-BD59-A6C34878D82A}">
                    <a16:rowId xmlns:a16="http://schemas.microsoft.com/office/drawing/2014/main" val="4122766963"/>
                  </a:ext>
                </a:extLst>
              </a:tr>
              <a:tr h="3098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E9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796156"/>
                  </a:ext>
                </a:extLst>
              </a:tr>
              <a:tr h="4822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Indignation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Contempt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Disgust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Unpleasant surprise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Dissatisfaction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Disappointment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Boredom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extLst>
                  <a:ext uri="{0D108BD9-81ED-4DB2-BD59-A6C34878D82A}">
                    <a16:rowId xmlns:a16="http://schemas.microsoft.com/office/drawing/2014/main" val="1165378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47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88DD-BE41-6C04-646C-4B9AC1785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9" y="1196752"/>
            <a:ext cx="5492800" cy="525658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dirty="0"/>
              <a:t>기존 메타 데이터 </a:t>
            </a:r>
            <a:r>
              <a:rPr lang="ko-KR" altLang="en-US" dirty="0" err="1"/>
              <a:t>코드북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6AEB739-00FA-8C47-FEB9-80DF397E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메타 데이터 소개 </a:t>
            </a:r>
            <a:r>
              <a:rPr lang="en-US" altLang="ko-KR" sz="2800" dirty="0"/>
              <a:t>– </a:t>
            </a:r>
            <a:r>
              <a:rPr lang="ko-KR" altLang="en-US" sz="2800" dirty="0" err="1"/>
              <a:t>코드북</a:t>
            </a:r>
            <a:r>
              <a:rPr lang="ko-KR" altLang="en-US" sz="2800" dirty="0"/>
              <a:t> 수정 사항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7AEB780-6031-7B61-D890-4B7E38910802}"/>
              </a:ext>
            </a:extLst>
          </p:cNvPr>
          <p:cNvSpPr txBox="1">
            <a:spLocks/>
          </p:cNvSpPr>
          <p:nvPr/>
        </p:nvSpPr>
        <p:spPr>
          <a:xfrm>
            <a:off x="6579864" y="1196752"/>
            <a:ext cx="5492800" cy="5256583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dirty="0"/>
              <a:t>수정 메타 데이터 </a:t>
            </a:r>
            <a:r>
              <a:rPr lang="ko-KR" altLang="en-US" dirty="0" err="1"/>
              <a:t>코드북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endParaRPr lang="ko-KR" altLang="en-US" dirty="0"/>
          </a:p>
          <a:p>
            <a:pPr marL="0" indent="0">
              <a:buFont typeface="Arial" pitchFamily="34" charset="0"/>
              <a:buNone/>
            </a:pPr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BD354BF-1725-769A-4A6E-D2B2F8DA8DEE}"/>
              </a:ext>
            </a:extLst>
          </p:cNvPr>
          <p:cNvSpPr txBox="1">
            <a:spLocks/>
          </p:cNvSpPr>
          <p:nvPr/>
        </p:nvSpPr>
        <p:spPr>
          <a:xfrm>
            <a:off x="623392" y="4545122"/>
            <a:ext cx="5976664" cy="1692190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2000" b="0" dirty="0">
                <a:solidFill>
                  <a:srgbClr val="222A35"/>
                </a:solidFill>
              </a:rPr>
              <a:t>→ </a:t>
            </a:r>
            <a:r>
              <a:rPr lang="ko-KR" altLang="en-US" sz="1800" b="0" dirty="0">
                <a:solidFill>
                  <a:srgbClr val="222A35"/>
                </a:solidFill>
              </a:rPr>
              <a:t>기존 설문 데이터 </a:t>
            </a:r>
            <a:r>
              <a:rPr lang="ko-KR" altLang="en-US" sz="1800" b="0" dirty="0" err="1">
                <a:solidFill>
                  <a:srgbClr val="222A35"/>
                </a:solidFill>
              </a:rPr>
              <a:t>코드북에</a:t>
            </a:r>
            <a:r>
              <a:rPr lang="ko-KR" altLang="en-US" sz="1800" b="0" dirty="0">
                <a:solidFill>
                  <a:srgbClr val="222A35"/>
                </a:solidFill>
              </a:rPr>
              <a:t> 포함되어 있었던 디자인 속성 </a:t>
            </a:r>
            <a:r>
              <a:rPr lang="ko-KR" altLang="en-US" sz="1800" b="0" dirty="0" err="1">
                <a:solidFill>
                  <a:srgbClr val="222A35"/>
                </a:solidFill>
              </a:rPr>
              <a:t>코드북을</a:t>
            </a:r>
            <a:r>
              <a:rPr lang="ko-KR" altLang="en-US" sz="1800" b="0" dirty="0">
                <a:solidFill>
                  <a:srgbClr val="222A35"/>
                </a:solidFill>
              </a:rPr>
              <a:t> 다른 시트에 새롭게 생성함</a:t>
            </a:r>
            <a:r>
              <a:rPr lang="en-US" altLang="ko-KR" sz="1800" b="0" dirty="0">
                <a:solidFill>
                  <a:srgbClr val="222A35"/>
                </a:solidFill>
              </a:rPr>
              <a:t>.</a:t>
            </a:r>
          </a:p>
          <a:p>
            <a:pPr marL="0" indent="0">
              <a:buFont typeface="Arial" pitchFamily="34" charset="0"/>
              <a:buNone/>
            </a:pPr>
            <a:r>
              <a:rPr lang="ko-KR" altLang="en-US" sz="1800" b="0" dirty="0">
                <a:solidFill>
                  <a:srgbClr val="222A35"/>
                </a:solidFill>
              </a:rPr>
              <a:t>→ 기존 속성에 </a:t>
            </a:r>
            <a:r>
              <a:rPr lang="en-US" altLang="ko-KR" sz="1800" dirty="0">
                <a:solidFill>
                  <a:srgbClr val="222A35"/>
                </a:solidFill>
              </a:rPr>
              <a:t>‘</a:t>
            </a:r>
            <a:r>
              <a:rPr lang="ko-KR" altLang="en-US" sz="1800" dirty="0">
                <a:solidFill>
                  <a:srgbClr val="222A35"/>
                </a:solidFill>
              </a:rPr>
              <a:t>안테나 여부</a:t>
            </a:r>
            <a:r>
              <a:rPr lang="en-US" altLang="ko-KR" sz="1800" dirty="0">
                <a:solidFill>
                  <a:srgbClr val="222A35"/>
                </a:solidFill>
              </a:rPr>
              <a:t>’, ‘</a:t>
            </a:r>
            <a:r>
              <a:rPr lang="ko-KR" altLang="en-US" sz="1800" dirty="0">
                <a:solidFill>
                  <a:srgbClr val="222A35"/>
                </a:solidFill>
              </a:rPr>
              <a:t>버튼 여부</a:t>
            </a:r>
            <a:r>
              <a:rPr lang="en-US" altLang="ko-KR" sz="1800" dirty="0">
                <a:solidFill>
                  <a:srgbClr val="222A35"/>
                </a:solidFill>
              </a:rPr>
              <a:t>’ </a:t>
            </a:r>
            <a:r>
              <a:rPr lang="ko-KR" altLang="en-US" sz="1800" b="0" dirty="0">
                <a:solidFill>
                  <a:srgbClr val="222A35"/>
                </a:solidFill>
              </a:rPr>
              <a:t>항목을 추가함</a:t>
            </a:r>
            <a:r>
              <a:rPr lang="en-US" altLang="ko-KR" sz="1800" b="0" dirty="0">
                <a:solidFill>
                  <a:srgbClr val="222A35"/>
                </a:solidFill>
              </a:rPr>
              <a:t>.</a:t>
            </a:r>
          </a:p>
          <a:p>
            <a:pPr marL="0" indent="0">
              <a:buFont typeface="Arial" pitchFamily="34" charset="0"/>
              <a:buNone/>
            </a:pPr>
            <a:r>
              <a:rPr lang="ko-KR" altLang="en-US" sz="1800" b="0" dirty="0">
                <a:solidFill>
                  <a:srgbClr val="222A35"/>
                </a:solidFill>
              </a:rPr>
              <a:t>→ </a:t>
            </a:r>
            <a:r>
              <a:rPr lang="ko-KR" altLang="en-US" sz="1800" b="0" dirty="0"/>
              <a:t>속성별로 열 색을 다르게 주어 구분 짓기 </a:t>
            </a:r>
            <a:r>
              <a:rPr lang="ko-KR" altLang="en-US" sz="1800" b="0" dirty="0" err="1"/>
              <a:t>쉽게끔</a:t>
            </a:r>
            <a:r>
              <a:rPr lang="ko-KR" altLang="en-US" sz="1800" b="0" dirty="0"/>
              <a:t> </a:t>
            </a:r>
            <a:endParaRPr lang="en-US" altLang="ko-KR" sz="1800" b="0" dirty="0"/>
          </a:p>
          <a:p>
            <a:pPr marL="0" indent="0">
              <a:buFont typeface="Arial" pitchFamily="34" charset="0"/>
              <a:buNone/>
            </a:pPr>
            <a:r>
              <a:rPr lang="ko-KR" altLang="en-US" sz="1800" b="0" dirty="0"/>
              <a:t>표 디자인함</a:t>
            </a:r>
            <a:r>
              <a:rPr lang="en-US" altLang="ko-KR" sz="1800" b="0" dirty="0"/>
              <a:t>.</a:t>
            </a:r>
            <a:endParaRPr lang="ko-KR" altLang="en-US" sz="1800" u="sng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54067A-D2C9-79E0-04F6-9BF2FE65E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1651525"/>
            <a:ext cx="5184576" cy="27393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CCA84C9-F4BB-8CF8-9E1E-6ABE5B67F0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6" t="106" r="1" b="1"/>
          <a:stretch/>
        </p:blipFill>
        <p:spPr>
          <a:xfrm>
            <a:off x="6579863" y="1561620"/>
            <a:ext cx="5047593" cy="452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20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메타 데이터 소개 </a:t>
            </a:r>
            <a:r>
              <a:rPr lang="en-US" altLang="ko-KR" sz="2800" dirty="0"/>
              <a:t>– </a:t>
            </a:r>
            <a:r>
              <a:rPr lang="ko-KR" altLang="en-US" sz="2800" dirty="0"/>
              <a:t>데이터 개요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8" y="1196752"/>
            <a:ext cx="11121711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수집 목적 </a:t>
            </a:r>
            <a:r>
              <a:rPr lang="en-US" altLang="ko-KR" sz="1800" b="0" dirty="0"/>
              <a:t>: TV </a:t>
            </a:r>
            <a:r>
              <a:rPr lang="ko-KR" altLang="en-US" sz="1800" b="0" dirty="0"/>
              <a:t>디자인별 속성에 대한 정보를 레이블</a:t>
            </a:r>
            <a:r>
              <a:rPr lang="en-US" altLang="ko-KR" sz="1800" b="0" dirty="0"/>
              <a:t>, </a:t>
            </a:r>
            <a:r>
              <a:rPr lang="ko-KR" altLang="en-US" sz="1800" b="0" dirty="0" err="1"/>
              <a:t>원핫</a:t>
            </a:r>
            <a:r>
              <a:rPr lang="ko-KR" altLang="en-US" sz="1800" b="0" dirty="0"/>
              <a:t> 인코딩을 이용하여 설정하고 구분하고자 함</a:t>
            </a:r>
            <a:r>
              <a:rPr lang="en-US" altLang="ko-KR" sz="1800" b="0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800" dirty="0"/>
              <a:t>TV</a:t>
            </a:r>
            <a:r>
              <a:rPr lang="ko-KR" altLang="en-US" sz="1800" dirty="0"/>
              <a:t> 디자인 속성 </a:t>
            </a:r>
            <a:r>
              <a:rPr lang="en-US" altLang="ko-KR" sz="1800" b="0" dirty="0"/>
              <a:t>: </a:t>
            </a:r>
          </a:p>
          <a:p>
            <a:pPr marL="0" indent="0" algn="l">
              <a:buNone/>
            </a:pPr>
            <a:r>
              <a:rPr lang="en-US" altLang="ko-KR" sz="1800" b="0" dirty="0"/>
              <a:t>	1. </a:t>
            </a:r>
            <a:r>
              <a:rPr lang="ko-KR" altLang="en-US" sz="1800" b="0" dirty="0"/>
              <a:t>총 </a:t>
            </a:r>
            <a:r>
              <a:rPr lang="en-US" altLang="ko-KR" sz="1800" b="0" dirty="0">
                <a:highlight>
                  <a:srgbClr val="FFFF00"/>
                </a:highlight>
              </a:rPr>
              <a:t>9</a:t>
            </a:r>
            <a:r>
              <a:rPr lang="ko-KR" altLang="en-US" sz="1800" b="0" dirty="0">
                <a:highlight>
                  <a:srgbClr val="FFFF00"/>
                </a:highlight>
              </a:rPr>
              <a:t>가지</a:t>
            </a:r>
            <a:r>
              <a:rPr lang="ko-KR" altLang="en-US" sz="1800" b="0" dirty="0"/>
              <a:t>의 속성으로 </a:t>
            </a:r>
            <a:r>
              <a:rPr lang="en-US" altLang="ko-KR" sz="1800" b="0" dirty="0"/>
              <a:t>TV </a:t>
            </a:r>
            <a:r>
              <a:rPr lang="ko-KR" altLang="en-US" sz="1800" b="0" dirty="0"/>
              <a:t>디자인을 구분하고자 함</a:t>
            </a:r>
            <a:r>
              <a:rPr lang="en-US" altLang="ko-KR" sz="1800" b="0" dirty="0"/>
              <a:t>.</a:t>
            </a:r>
          </a:p>
          <a:p>
            <a:pPr marL="0" indent="0" algn="l">
              <a:buNone/>
            </a:pPr>
            <a:r>
              <a:rPr lang="en-US" altLang="ko-KR" sz="1800" b="0" dirty="0"/>
              <a:t>	    </a:t>
            </a:r>
            <a:r>
              <a:rPr lang="en-US" altLang="ko-KR" b="0" dirty="0"/>
              <a:t>- </a:t>
            </a:r>
            <a:r>
              <a:rPr lang="en-US" altLang="ko-KR" b="0" i="1" dirty="0"/>
              <a:t>TV </a:t>
            </a:r>
            <a:r>
              <a:rPr lang="ko-KR" altLang="en-US" b="0" i="1" dirty="0"/>
              <a:t>외관 유형</a:t>
            </a:r>
            <a:r>
              <a:rPr lang="en-US" altLang="ko-KR" b="0" i="1" dirty="0"/>
              <a:t>, TV </a:t>
            </a:r>
            <a:r>
              <a:rPr lang="ko-KR" altLang="en-US" b="0" i="1" dirty="0"/>
              <a:t>프레임 색상</a:t>
            </a:r>
            <a:r>
              <a:rPr lang="en-US" altLang="ko-KR" b="0" i="1" dirty="0"/>
              <a:t>, TV </a:t>
            </a:r>
            <a:r>
              <a:rPr lang="ko-KR" altLang="en-US" b="0" i="1" dirty="0"/>
              <a:t>디스플레이 색상</a:t>
            </a:r>
            <a:r>
              <a:rPr lang="en-US" altLang="ko-KR" b="0" i="1" dirty="0"/>
              <a:t>, TV </a:t>
            </a:r>
            <a:r>
              <a:rPr lang="ko-KR" altLang="en-US" b="0" i="1" dirty="0"/>
              <a:t>프레임 두께</a:t>
            </a:r>
            <a:r>
              <a:rPr lang="en-US" altLang="ko-KR" b="0" i="1" dirty="0"/>
              <a:t>, TV </a:t>
            </a:r>
            <a:r>
              <a:rPr lang="ko-KR" altLang="en-US" b="0" i="1" dirty="0"/>
              <a:t>옆면 두께</a:t>
            </a:r>
            <a:r>
              <a:rPr lang="en-US" altLang="ko-KR" b="0" i="1" dirty="0"/>
              <a:t>, TV </a:t>
            </a:r>
            <a:r>
              <a:rPr lang="ko-KR" altLang="en-US" b="0" i="1" dirty="0"/>
              <a:t>스탠드 받침 모양</a:t>
            </a:r>
            <a:r>
              <a:rPr lang="en-US" altLang="ko-KR" b="0" i="1" dirty="0"/>
              <a:t>, </a:t>
            </a:r>
          </a:p>
          <a:p>
            <a:pPr marL="0" indent="0" algn="l">
              <a:buNone/>
            </a:pPr>
            <a:r>
              <a:rPr lang="en-US" altLang="ko-KR" b="0" i="1" dirty="0"/>
              <a:t>                      TV </a:t>
            </a:r>
            <a:r>
              <a:rPr lang="ko-KR" altLang="en-US" b="0" i="1" dirty="0"/>
              <a:t>스탠드 두께</a:t>
            </a:r>
            <a:r>
              <a:rPr lang="en-US" altLang="ko-KR" b="0" i="1" dirty="0"/>
              <a:t>, TV </a:t>
            </a:r>
            <a:r>
              <a:rPr lang="ko-KR" altLang="en-US" b="0" i="1" dirty="0"/>
              <a:t>안테나 여부</a:t>
            </a:r>
            <a:r>
              <a:rPr lang="en-US" altLang="ko-KR" b="0" i="1" dirty="0"/>
              <a:t>, TV </a:t>
            </a:r>
            <a:r>
              <a:rPr lang="ko-KR" altLang="en-US" b="0" i="1" dirty="0"/>
              <a:t>버튼 여부</a:t>
            </a:r>
            <a:endParaRPr lang="en-US" altLang="ko-KR" b="0" i="1" dirty="0"/>
          </a:p>
          <a:p>
            <a:pPr marL="0" indent="0" algn="l">
              <a:buNone/>
            </a:pPr>
            <a:r>
              <a:rPr lang="en-US" altLang="ko-KR" sz="1800" b="0" dirty="0"/>
              <a:t>	2. 1</a:t>
            </a:r>
            <a:r>
              <a:rPr lang="ko-KR" altLang="en-US" sz="1800" b="0" dirty="0"/>
              <a:t>번부터 </a:t>
            </a:r>
            <a:r>
              <a:rPr lang="en-US" altLang="ko-KR" sz="1800" b="0" dirty="0"/>
              <a:t>40</a:t>
            </a:r>
            <a:r>
              <a:rPr lang="ko-KR" altLang="en-US" sz="1800" b="0" dirty="0"/>
              <a:t>번까지의 </a:t>
            </a:r>
            <a:r>
              <a:rPr lang="en-US" altLang="ko-KR" sz="1800" b="0" dirty="0"/>
              <a:t>TV </a:t>
            </a:r>
            <a:r>
              <a:rPr lang="ko-KR" altLang="en-US" sz="1800" b="0" dirty="0"/>
              <a:t>디자인 속성 정보 및 사진을 토대로 메타 데이터 구축함</a:t>
            </a:r>
            <a:r>
              <a:rPr lang="en-US" altLang="ko-KR" sz="1800" b="0" dirty="0"/>
              <a:t>.</a:t>
            </a:r>
          </a:p>
          <a:p>
            <a:pPr marL="0" indent="0" algn="l">
              <a:buNone/>
            </a:pPr>
            <a:r>
              <a:rPr lang="en-US" altLang="ko-KR" sz="1800" b="0" dirty="0"/>
              <a:t>	3. </a:t>
            </a:r>
            <a:r>
              <a:rPr lang="ko-KR" altLang="en-US" sz="1800" b="0" dirty="0"/>
              <a:t>속성별로 열 색을 다르게 주어 구분 짓기 </a:t>
            </a:r>
            <a:r>
              <a:rPr lang="ko-KR" altLang="en-US" sz="1800" b="0" dirty="0" err="1"/>
              <a:t>쉽게끔</a:t>
            </a:r>
            <a:r>
              <a:rPr lang="ko-KR" altLang="en-US" sz="1800" b="0" dirty="0"/>
              <a:t> 표 디자인함</a:t>
            </a:r>
            <a:r>
              <a:rPr lang="en-US" altLang="ko-KR" sz="1800" b="0" dirty="0"/>
              <a:t>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구축한 </a:t>
            </a:r>
            <a:r>
              <a:rPr lang="en-US" altLang="ko-KR" sz="1800" dirty="0"/>
              <a:t>Meta Data </a:t>
            </a:r>
            <a:r>
              <a:rPr lang="ko-KR" altLang="en-US" sz="1800" dirty="0"/>
              <a:t>일부</a:t>
            </a:r>
            <a:endParaRPr lang="en-US" altLang="ko-KR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A56F86-487E-6B70-B532-98111F2BC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723" b="50000"/>
          <a:stretch/>
        </p:blipFill>
        <p:spPr>
          <a:xfrm>
            <a:off x="1022741" y="4014736"/>
            <a:ext cx="10494051" cy="24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57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EDA </a:t>
            </a:r>
            <a:r>
              <a:rPr lang="ko-KR" altLang="en-US" sz="2800" dirty="0"/>
              <a:t>탐색적 데이터 분석 결과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9" y="1196752"/>
            <a:ext cx="5852840" cy="5256583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ko-KR" sz="1800" b="0" dirty="0"/>
              <a:t>RAW </a:t>
            </a:r>
            <a:r>
              <a:rPr lang="ko-KR" altLang="en-US" sz="1800" b="0" dirty="0"/>
              <a:t>데이터를 가지고 </a:t>
            </a:r>
            <a:r>
              <a:rPr lang="en-US" altLang="ko-KR" sz="1800" b="0" dirty="0"/>
              <a:t>EDA </a:t>
            </a:r>
            <a:r>
              <a:rPr lang="ko-KR" altLang="en-US" sz="1800" b="0" dirty="0"/>
              <a:t>탐색적 데이터 분석 진행함</a:t>
            </a:r>
            <a:r>
              <a:rPr lang="en-US" altLang="ko-KR" sz="1800" b="0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응답자 </a:t>
            </a:r>
            <a:r>
              <a:rPr lang="en-US" altLang="ko-KR" sz="1800" b="0" dirty="0"/>
              <a:t>: </a:t>
            </a:r>
          </a:p>
          <a:p>
            <a:pPr marL="0" indent="0" algn="l">
              <a:buNone/>
            </a:pPr>
            <a:r>
              <a:rPr lang="en-US" altLang="ko-KR" sz="1800" b="0" dirty="0"/>
              <a:t>	1. </a:t>
            </a:r>
            <a:r>
              <a:rPr lang="ko-KR" altLang="en-US" sz="1800" b="0" dirty="0"/>
              <a:t>총 </a:t>
            </a:r>
            <a:r>
              <a:rPr lang="en-US" altLang="ko-KR" sz="1800" b="0" dirty="0"/>
              <a:t>76</a:t>
            </a:r>
            <a:r>
              <a:rPr lang="ko-KR" altLang="en-US" sz="1800" b="0" dirty="0"/>
              <a:t>명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2. </a:t>
            </a:r>
            <a:r>
              <a:rPr lang="ko-KR" altLang="en-US" sz="1800" b="0" dirty="0"/>
              <a:t>평균 연령 </a:t>
            </a:r>
            <a:r>
              <a:rPr lang="en-US" altLang="ko-KR" sz="1800" b="0" dirty="0"/>
              <a:t>39</a:t>
            </a:r>
            <a:r>
              <a:rPr lang="ko-KR" altLang="en-US" sz="1800" b="0" dirty="0"/>
              <a:t>세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3. </a:t>
            </a:r>
            <a:r>
              <a:rPr lang="ko-KR" altLang="en-US" sz="1800" b="0" dirty="0"/>
              <a:t>성비 구성 </a:t>
            </a:r>
            <a:r>
              <a:rPr lang="en-US" altLang="ko-KR" sz="1800" b="0" dirty="0"/>
              <a:t>[</a:t>
            </a:r>
            <a:r>
              <a:rPr lang="ko-KR" altLang="en-US" sz="1800" b="0" dirty="0"/>
              <a:t>남성 </a:t>
            </a:r>
            <a:r>
              <a:rPr lang="en-US" altLang="ko-KR" sz="1800" b="0" dirty="0"/>
              <a:t>56.7% / </a:t>
            </a:r>
            <a:r>
              <a:rPr lang="ko-KR" altLang="en-US" sz="1800" b="0" dirty="0"/>
              <a:t>여성 </a:t>
            </a:r>
            <a:r>
              <a:rPr lang="en-US" altLang="ko-KR" sz="1800" b="0" dirty="0"/>
              <a:t>43.3%]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평가 </a:t>
            </a:r>
            <a:r>
              <a:rPr lang="en-US" altLang="ko-KR" sz="18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600" dirty="0"/>
              <a:t>TV </a:t>
            </a:r>
            <a:r>
              <a:rPr lang="ko-KR" altLang="en-US" sz="1600" dirty="0"/>
              <a:t>디자인에 대한 </a:t>
            </a:r>
            <a:r>
              <a:rPr lang="en-US" altLang="ko-KR" sz="1600" dirty="0" err="1"/>
              <a:t>PreMo</a:t>
            </a:r>
            <a:r>
              <a:rPr lang="en-US" altLang="ko-KR" sz="1600" dirty="0"/>
              <a:t> </a:t>
            </a:r>
            <a:r>
              <a:rPr lang="ko-KR" altLang="en-US" sz="1600" dirty="0"/>
              <a:t>감성 평가 평균</a:t>
            </a:r>
            <a:endParaRPr lang="en-US" altLang="ko-KR" sz="16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DE5208C-4FEF-E783-DA12-08DF1AC7E681}"/>
              </a:ext>
            </a:extLst>
          </p:cNvPr>
          <p:cNvSpPr txBox="1">
            <a:spLocks/>
          </p:cNvSpPr>
          <p:nvPr/>
        </p:nvSpPr>
        <p:spPr>
          <a:xfrm>
            <a:off x="5067696" y="3284984"/>
            <a:ext cx="5852840" cy="521804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600" dirty="0"/>
              <a:t>TV </a:t>
            </a:r>
            <a:r>
              <a:rPr lang="ko-KR" altLang="en-US" sz="1600" dirty="0"/>
              <a:t>디자인에 대한</a:t>
            </a:r>
            <a:r>
              <a:rPr lang="en-US" altLang="ko-KR" sz="1600" dirty="0"/>
              <a:t> Evaluation</a:t>
            </a:r>
            <a:r>
              <a:rPr lang="ko-KR" altLang="en-US" sz="1600" dirty="0"/>
              <a:t> 평가 평균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222A001-56F9-9103-278C-10CA31F38BD0}"/>
              </a:ext>
            </a:extLst>
          </p:cNvPr>
          <p:cNvGraphicFramePr>
            <a:graphicFrameLocks noGrp="1"/>
          </p:cNvGraphicFramePr>
          <p:nvPr/>
        </p:nvGraphicFramePr>
        <p:xfrm>
          <a:off x="839416" y="3825043"/>
          <a:ext cx="3888430" cy="15624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5490">
                  <a:extLst>
                    <a:ext uri="{9D8B030D-6E8A-4147-A177-3AD203B41FA5}">
                      <a16:colId xmlns:a16="http://schemas.microsoft.com/office/drawing/2014/main" val="1288446855"/>
                    </a:ext>
                  </a:extLst>
                </a:gridCol>
                <a:gridCol w="555490">
                  <a:extLst>
                    <a:ext uri="{9D8B030D-6E8A-4147-A177-3AD203B41FA5}">
                      <a16:colId xmlns:a16="http://schemas.microsoft.com/office/drawing/2014/main" val="2891262216"/>
                    </a:ext>
                  </a:extLst>
                </a:gridCol>
                <a:gridCol w="555490">
                  <a:extLst>
                    <a:ext uri="{9D8B030D-6E8A-4147-A177-3AD203B41FA5}">
                      <a16:colId xmlns:a16="http://schemas.microsoft.com/office/drawing/2014/main" val="1391720198"/>
                    </a:ext>
                  </a:extLst>
                </a:gridCol>
                <a:gridCol w="555490">
                  <a:extLst>
                    <a:ext uri="{9D8B030D-6E8A-4147-A177-3AD203B41FA5}">
                      <a16:colId xmlns:a16="http://schemas.microsoft.com/office/drawing/2014/main" val="1898490251"/>
                    </a:ext>
                  </a:extLst>
                </a:gridCol>
                <a:gridCol w="555490">
                  <a:extLst>
                    <a:ext uri="{9D8B030D-6E8A-4147-A177-3AD203B41FA5}">
                      <a16:colId xmlns:a16="http://schemas.microsoft.com/office/drawing/2014/main" val="1398404197"/>
                    </a:ext>
                  </a:extLst>
                </a:gridCol>
                <a:gridCol w="555490">
                  <a:extLst>
                    <a:ext uri="{9D8B030D-6E8A-4147-A177-3AD203B41FA5}">
                      <a16:colId xmlns:a16="http://schemas.microsoft.com/office/drawing/2014/main" val="3925861344"/>
                    </a:ext>
                  </a:extLst>
                </a:gridCol>
                <a:gridCol w="555490">
                  <a:extLst>
                    <a:ext uri="{9D8B030D-6E8A-4147-A177-3AD203B41FA5}">
                      <a16:colId xmlns:a16="http://schemas.microsoft.com/office/drawing/2014/main" val="400121842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29897"/>
                  </a:ext>
                </a:extLst>
              </a:tr>
              <a:tr h="4822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4.09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4.12</a:t>
                      </a: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4.09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4.14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4.07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extLst>
                  <a:ext uri="{0D108BD9-81ED-4DB2-BD59-A6C34878D82A}">
                    <a16:rowId xmlns:a16="http://schemas.microsoft.com/office/drawing/2014/main" val="4122766963"/>
                  </a:ext>
                </a:extLst>
              </a:tr>
              <a:tr h="3098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E9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E14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796156"/>
                  </a:ext>
                </a:extLst>
              </a:tr>
              <a:tr h="4822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3.68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3.47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3.22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3.44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3.62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3.62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3.38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985" marB="0" anchor="ctr"/>
                </a:tc>
                <a:extLst>
                  <a:ext uri="{0D108BD9-81ED-4DB2-BD59-A6C34878D82A}">
                    <a16:rowId xmlns:a16="http://schemas.microsoft.com/office/drawing/2014/main" val="1165378683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BAD8B0A-11C3-86CB-8E39-9430F17557B9}"/>
              </a:ext>
            </a:extLst>
          </p:cNvPr>
          <p:cNvSpPr txBox="1">
            <a:spLocks/>
          </p:cNvSpPr>
          <p:nvPr/>
        </p:nvSpPr>
        <p:spPr>
          <a:xfrm>
            <a:off x="551384" y="5630603"/>
            <a:ext cx="5852840" cy="521804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1" indent="0">
              <a:buNone/>
            </a:pPr>
            <a:r>
              <a:rPr lang="en-US" altLang="ko-KR" sz="1600" dirty="0"/>
              <a:t>Disgust</a:t>
            </a:r>
            <a:r>
              <a:rPr lang="ko-KR" altLang="en-US" sz="1600" dirty="0"/>
              <a:t>가 </a:t>
            </a:r>
            <a:r>
              <a:rPr lang="en-US" altLang="ko-KR" sz="1600" dirty="0"/>
              <a:t>3.22</a:t>
            </a:r>
            <a:r>
              <a:rPr lang="ko-KR" altLang="en-US" sz="1600" dirty="0"/>
              <a:t>로 가장 낮은 평균 값을 보였고</a:t>
            </a:r>
            <a:r>
              <a:rPr lang="en-US" altLang="ko-KR" sz="1600" dirty="0"/>
              <a:t>, </a:t>
            </a:r>
          </a:p>
          <a:p>
            <a:pPr marL="179388" lvl="1" indent="0">
              <a:buNone/>
            </a:pPr>
            <a:r>
              <a:rPr lang="en-US" altLang="ko-KR" sz="1600" dirty="0"/>
              <a:t>Satisfaction</a:t>
            </a:r>
            <a:r>
              <a:rPr lang="ko-KR" altLang="en-US" sz="1600" dirty="0"/>
              <a:t>이 </a:t>
            </a:r>
            <a:r>
              <a:rPr lang="en-US" altLang="ko-KR" sz="1600" dirty="0"/>
              <a:t>4.14</a:t>
            </a:r>
            <a:r>
              <a:rPr lang="ko-KR" altLang="en-US" sz="1600" dirty="0"/>
              <a:t>로 가장 높은 평균 값을 보였음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15CF8C6-147F-02E3-1318-8DF064837D87}"/>
              </a:ext>
            </a:extLst>
          </p:cNvPr>
          <p:cNvGraphicFramePr>
            <a:graphicFrameLocks noGrp="1"/>
          </p:cNvGraphicFramePr>
          <p:nvPr/>
        </p:nvGraphicFramePr>
        <p:xfrm>
          <a:off x="5591944" y="3789040"/>
          <a:ext cx="302831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2655">
                  <a:extLst>
                    <a:ext uri="{9D8B030D-6E8A-4147-A177-3AD203B41FA5}">
                      <a16:colId xmlns:a16="http://schemas.microsoft.com/office/drawing/2014/main" val="3005004161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121737072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3751099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Evaluation</a:t>
                      </a:r>
                      <a:endParaRPr lang="ko-KR" altLang="en-US" sz="1100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Evaluation 1</a:t>
                      </a:r>
                      <a:endParaRPr lang="ko-KR" altLang="en-US" sz="1100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Evaluation 2</a:t>
                      </a:r>
                      <a:endParaRPr lang="ko-KR" altLang="en-US" sz="1100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000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4.17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4.18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4.16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456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67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EDA </a:t>
            </a:r>
            <a:r>
              <a:rPr lang="ko-KR" altLang="en-US" sz="2800" dirty="0"/>
              <a:t>탐색적 데이터 분석 결과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9" y="1196752"/>
            <a:ext cx="5852840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800" dirty="0"/>
              <a:t>TV </a:t>
            </a:r>
            <a:r>
              <a:rPr lang="ko-KR" altLang="en-US" sz="1800" dirty="0"/>
              <a:t>디자인별 </a:t>
            </a:r>
            <a:r>
              <a:rPr lang="en-US" altLang="ko-KR" sz="1800" dirty="0" err="1"/>
              <a:t>PreMo</a:t>
            </a:r>
            <a:r>
              <a:rPr lang="en-US" altLang="ko-KR" sz="1800" dirty="0"/>
              <a:t> </a:t>
            </a:r>
            <a:r>
              <a:rPr lang="ko-KR" altLang="en-US" sz="1800" dirty="0"/>
              <a:t>감성 평가 평균치 </a:t>
            </a:r>
            <a:endParaRPr lang="en-US" altLang="ko-KR" sz="1800" b="0" dirty="0"/>
          </a:p>
          <a:p>
            <a:pPr marL="0" indent="0" algn="l">
              <a:buNone/>
            </a:pPr>
            <a:r>
              <a:rPr lang="en-US" altLang="ko-KR" sz="1800" b="0" dirty="0"/>
              <a:t>	</a:t>
            </a:r>
            <a:endParaRPr lang="en-US" altLang="ko-KR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F79380D-05A3-28B9-3043-EBA53E382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581272"/>
            <a:ext cx="6480720" cy="4883409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BAD8B0A-11C3-86CB-8E39-9430F17557B9}"/>
              </a:ext>
            </a:extLst>
          </p:cNvPr>
          <p:cNvSpPr txBox="1">
            <a:spLocks/>
          </p:cNvSpPr>
          <p:nvPr/>
        </p:nvSpPr>
        <p:spPr>
          <a:xfrm>
            <a:off x="7340326" y="1869304"/>
            <a:ext cx="4176465" cy="4584032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err="1"/>
              <a:t>히트맵을</a:t>
            </a:r>
            <a:r>
              <a:rPr lang="ko-KR" altLang="en-US" sz="1600" dirty="0"/>
              <a:t> 살펴보면</a:t>
            </a:r>
            <a:r>
              <a:rPr lang="en-US" altLang="ko-KR" sz="1600" dirty="0"/>
              <a:t>, </a:t>
            </a:r>
            <a:r>
              <a:rPr lang="ko-KR" altLang="en-US" sz="1600" dirty="0"/>
              <a:t>긍정 감정을 나타내는 </a:t>
            </a:r>
            <a:r>
              <a:rPr lang="en-US" altLang="ko-KR" sz="1600" dirty="0">
                <a:highlight>
                  <a:srgbClr val="FFFF00"/>
                </a:highlight>
              </a:rPr>
              <a:t>E1~E7</a:t>
            </a:r>
            <a:r>
              <a:rPr lang="ko-KR" altLang="en-US" sz="1600" dirty="0">
                <a:highlight>
                  <a:srgbClr val="FFFF00"/>
                </a:highlight>
              </a:rPr>
              <a:t>까지의 평균치가 디자인 순번 후위로 갈수록 높음을 </a:t>
            </a:r>
            <a:r>
              <a:rPr lang="ko-KR" altLang="en-US" sz="1600" dirty="0"/>
              <a:t>알 수 있음</a:t>
            </a:r>
            <a:r>
              <a:rPr lang="en-US" altLang="ko-KR" sz="1600" dirty="0"/>
              <a:t>. </a:t>
            </a:r>
          </a:p>
          <a:p>
            <a:pPr marL="179388" lvl="1" indent="0">
              <a:buNone/>
            </a:pPr>
            <a:r>
              <a:rPr lang="ko-KR" altLang="en-US" sz="1600" b="0" dirty="0">
                <a:solidFill>
                  <a:srgbClr val="222A35"/>
                </a:solidFill>
              </a:rPr>
              <a:t>→ </a:t>
            </a:r>
            <a:r>
              <a:rPr lang="en-US" altLang="ko-KR" sz="1600" b="0" dirty="0">
                <a:solidFill>
                  <a:srgbClr val="222A35"/>
                </a:solidFill>
              </a:rPr>
              <a:t>TV </a:t>
            </a:r>
            <a:r>
              <a:rPr lang="ko-KR" altLang="en-US" sz="1600" b="0" dirty="0">
                <a:solidFill>
                  <a:srgbClr val="222A35"/>
                </a:solidFill>
              </a:rPr>
              <a:t>디자인 </a:t>
            </a:r>
            <a:r>
              <a:rPr lang="ko-KR" altLang="en-US" sz="1600" b="0" dirty="0" err="1">
                <a:solidFill>
                  <a:srgbClr val="222A35"/>
                </a:solidFill>
              </a:rPr>
              <a:t>후번대의</a:t>
            </a:r>
            <a:r>
              <a:rPr lang="ko-KR" altLang="en-US" sz="1600" b="0" dirty="0">
                <a:solidFill>
                  <a:srgbClr val="222A35"/>
                </a:solidFill>
              </a:rPr>
              <a:t> 특징을 살펴보고 이를 사용자 감성 중심 디자인에 활용할 수 있음</a:t>
            </a:r>
            <a:r>
              <a:rPr lang="en-US" altLang="ko-KR" sz="1600" b="0" dirty="0">
                <a:solidFill>
                  <a:srgbClr val="222A35"/>
                </a:solidFill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b="0" dirty="0">
              <a:solidFill>
                <a:srgbClr val="222A35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222A35"/>
                </a:solidFill>
                <a:highlight>
                  <a:srgbClr val="FFFF00"/>
                </a:highlight>
              </a:rPr>
              <a:t>초반 번호</a:t>
            </a:r>
            <a:r>
              <a:rPr lang="ko-KR" altLang="en-US" sz="1600" dirty="0">
                <a:solidFill>
                  <a:srgbClr val="222A35"/>
                </a:solidFill>
              </a:rPr>
              <a:t>의 디자인 중 </a:t>
            </a:r>
            <a:r>
              <a:rPr lang="ko-KR" altLang="en-US" sz="1600" dirty="0">
                <a:solidFill>
                  <a:srgbClr val="222A35"/>
                </a:solidFill>
                <a:highlight>
                  <a:srgbClr val="FFFF00"/>
                </a:highlight>
              </a:rPr>
              <a:t>부정적 감정의 평균치가 높게</a:t>
            </a:r>
            <a:r>
              <a:rPr lang="ko-KR" altLang="en-US" sz="1600" dirty="0">
                <a:solidFill>
                  <a:srgbClr val="222A35"/>
                </a:solidFill>
              </a:rPr>
              <a:t> 나오는 것들이 존재함</a:t>
            </a:r>
            <a:r>
              <a:rPr lang="en-US" altLang="ko-KR" sz="1600" dirty="0">
                <a:solidFill>
                  <a:srgbClr val="222A35"/>
                </a:solidFill>
              </a:rPr>
              <a:t>. (2,3,4,6,7,8,18,19,26)</a:t>
            </a:r>
          </a:p>
          <a:p>
            <a:pPr marL="179388" lvl="1" indent="0">
              <a:buNone/>
            </a:pPr>
            <a:r>
              <a:rPr lang="ko-KR" altLang="en-US" sz="1600" b="0" dirty="0">
                <a:solidFill>
                  <a:srgbClr val="222A35"/>
                </a:solidFill>
              </a:rPr>
              <a:t>→ 해당 </a:t>
            </a:r>
            <a:r>
              <a:rPr lang="en-US" altLang="ko-KR" sz="1600" b="0" dirty="0">
                <a:solidFill>
                  <a:srgbClr val="222A35"/>
                </a:solidFill>
              </a:rPr>
              <a:t>TV </a:t>
            </a:r>
            <a:r>
              <a:rPr lang="ko-KR" altLang="en-US" sz="1600" b="0" dirty="0">
                <a:solidFill>
                  <a:srgbClr val="222A35"/>
                </a:solidFill>
              </a:rPr>
              <a:t>디자인의 특징을 살펴보고 공통적으로 해당하는 특징을 부정적 감정 유도 특징으로 판단할 수 있음</a:t>
            </a:r>
            <a:r>
              <a:rPr lang="en-US" altLang="ko-KR" sz="1600" b="0" dirty="0">
                <a:solidFill>
                  <a:srgbClr val="222A35"/>
                </a:solidFill>
              </a:rPr>
              <a:t>.</a:t>
            </a:r>
            <a:endParaRPr lang="en-US" altLang="ko-KR" sz="1600" dirty="0">
              <a:solidFill>
                <a:srgbClr val="222A35"/>
              </a:solidFill>
            </a:endParaRPr>
          </a:p>
          <a:p>
            <a:pPr marL="179388" lvl="1" indent="0">
              <a:buNone/>
            </a:pPr>
            <a:endParaRPr lang="en-US" altLang="ko-KR" sz="1600" b="0" dirty="0">
              <a:solidFill>
                <a:srgbClr val="222A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376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207" y="170892"/>
            <a:ext cx="11121711" cy="521804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EDA </a:t>
            </a:r>
            <a:r>
              <a:rPr lang="ko-KR" altLang="en-US" sz="2800" dirty="0"/>
              <a:t>탐색적 데이터 분석 결과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2755A0-023E-693E-A978-C6849CCA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9" y="1196752"/>
            <a:ext cx="5852840" cy="5256583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800" dirty="0"/>
              <a:t>요소별 선호도 분석 </a:t>
            </a:r>
            <a:r>
              <a:rPr lang="en-US" altLang="ko-KR" sz="1800" b="0" dirty="0"/>
              <a:t>: </a:t>
            </a:r>
            <a:endParaRPr lang="en-US" altLang="ko-KR" sz="1600" b="0" dirty="0"/>
          </a:p>
          <a:p>
            <a:pPr marL="649288" lvl="2" indent="-285750">
              <a:buFont typeface="Wingdings" panose="05000000000000000000" pitchFamily="2" charset="2"/>
              <a:buChar char="§"/>
            </a:pPr>
            <a:r>
              <a:rPr lang="ko-KR" altLang="en-US" sz="1500" b="0" dirty="0"/>
              <a:t>연령대별 선호도 분석</a:t>
            </a:r>
            <a:endParaRPr lang="en-US" altLang="ko-KR" sz="1500" b="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DE5208C-4FEF-E783-DA12-08DF1AC7E681}"/>
              </a:ext>
            </a:extLst>
          </p:cNvPr>
          <p:cNvSpPr txBox="1">
            <a:spLocks/>
          </p:cNvSpPr>
          <p:nvPr/>
        </p:nvSpPr>
        <p:spPr>
          <a:xfrm>
            <a:off x="5159896" y="1539044"/>
            <a:ext cx="2376264" cy="521804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500" dirty="0"/>
              <a:t>성별 선호도 분석 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BAD8B0A-11C3-86CB-8E39-9430F17557B9}"/>
              </a:ext>
            </a:extLst>
          </p:cNvPr>
          <p:cNvSpPr txBox="1">
            <a:spLocks/>
          </p:cNvSpPr>
          <p:nvPr/>
        </p:nvSpPr>
        <p:spPr>
          <a:xfrm>
            <a:off x="551384" y="5013176"/>
            <a:ext cx="4104456" cy="1122181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1" indent="0">
              <a:buNone/>
            </a:pPr>
            <a:r>
              <a:rPr lang="ko-KR" altLang="en-US" sz="1600" dirty="0"/>
              <a:t>나이가 많은 </a:t>
            </a:r>
            <a:r>
              <a:rPr lang="en-US" altLang="ko-KR" sz="1600" dirty="0">
                <a:highlight>
                  <a:srgbClr val="FFFF00"/>
                </a:highlight>
              </a:rPr>
              <a:t>3</a:t>
            </a:r>
            <a:r>
              <a:rPr lang="ko-KR" altLang="en-US" sz="1600" dirty="0">
                <a:highlight>
                  <a:srgbClr val="FFFF00"/>
                </a:highlight>
              </a:rPr>
              <a:t>세대가 전반적으로 높은 </a:t>
            </a:r>
            <a:endParaRPr lang="en-US" altLang="ko-KR" sz="1600" dirty="0">
              <a:highlight>
                <a:srgbClr val="FFFF00"/>
              </a:highlight>
            </a:endParaRPr>
          </a:p>
          <a:p>
            <a:pPr marL="179388" lvl="1" indent="0">
              <a:buNone/>
            </a:pPr>
            <a:r>
              <a:rPr lang="ko-KR" altLang="en-US" sz="1600" dirty="0">
                <a:highlight>
                  <a:srgbClr val="FFFF00"/>
                </a:highlight>
              </a:rPr>
              <a:t>평가 점수를 부여</a:t>
            </a:r>
            <a:r>
              <a:rPr lang="ko-KR" altLang="en-US" sz="1600" dirty="0"/>
              <a:t>하는 경향이 있으며 </a:t>
            </a:r>
            <a:endParaRPr lang="en-US" altLang="ko-KR" sz="1600" dirty="0"/>
          </a:p>
          <a:p>
            <a:pPr marL="179388" lvl="1" indent="0">
              <a:buNone/>
            </a:pPr>
            <a:r>
              <a:rPr lang="ko-KR" altLang="en-US" sz="1600" dirty="0"/>
              <a:t>젊은 세대인 </a:t>
            </a:r>
            <a:r>
              <a:rPr lang="en-US" altLang="ko-KR" sz="1600" dirty="0"/>
              <a:t>1</a:t>
            </a:r>
            <a:r>
              <a:rPr lang="ko-KR" altLang="en-US" sz="1600" dirty="0"/>
              <a:t>세대는 상대적으로 약간 </a:t>
            </a:r>
            <a:endParaRPr lang="en-US" altLang="ko-KR" sz="1600" dirty="0"/>
          </a:p>
          <a:p>
            <a:pPr marL="179388" lvl="1" indent="0">
              <a:buNone/>
            </a:pPr>
            <a:r>
              <a:rPr lang="ko-KR" altLang="en-US" sz="1600" dirty="0"/>
              <a:t>더 낮은 평가를 부여함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15F3D6-C4B6-EB92-2AC9-35BCB8E31D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81"/>
          <a:stretch/>
        </p:blipFill>
        <p:spPr>
          <a:xfrm>
            <a:off x="839416" y="2059307"/>
            <a:ext cx="3456384" cy="27087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D5FBC4C-1B7D-A266-249B-3C83B8AFA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24" y="2132856"/>
            <a:ext cx="3714097" cy="216024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770C9E96-A482-4E05-D866-796D0623300D}"/>
              </a:ext>
            </a:extLst>
          </p:cNvPr>
          <p:cNvSpPr txBox="1">
            <a:spLocks/>
          </p:cNvSpPr>
          <p:nvPr/>
        </p:nvSpPr>
        <p:spPr>
          <a:xfrm>
            <a:off x="4367808" y="5031029"/>
            <a:ext cx="4104456" cy="1122181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1" indent="0">
              <a:buNone/>
            </a:pPr>
            <a:r>
              <a:rPr lang="ko-KR" altLang="en-US" sz="1600" dirty="0"/>
              <a:t>남성이 여성보다 약간 더 높은 점수를 </a:t>
            </a:r>
            <a:endParaRPr lang="en-US" altLang="ko-KR" sz="1600" dirty="0"/>
          </a:p>
          <a:p>
            <a:pPr marL="179388" lvl="1" indent="0">
              <a:buNone/>
            </a:pPr>
            <a:r>
              <a:rPr lang="ko-KR" altLang="en-US" sz="1600" dirty="0"/>
              <a:t>부여하는 경향이 있음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239F3B93-45A6-01FD-3CD3-36A86F7990AF}"/>
              </a:ext>
            </a:extLst>
          </p:cNvPr>
          <p:cNvSpPr txBox="1">
            <a:spLocks/>
          </p:cNvSpPr>
          <p:nvPr/>
        </p:nvSpPr>
        <p:spPr>
          <a:xfrm>
            <a:off x="8400256" y="1539044"/>
            <a:ext cx="2892606" cy="521804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500" dirty="0"/>
              <a:t>소득 수준별 선호도 분석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C1E2DA6-3958-119D-1729-79A84555D8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03"/>
          <a:stretch/>
        </p:blipFill>
        <p:spPr>
          <a:xfrm>
            <a:off x="8382324" y="2135716"/>
            <a:ext cx="3250718" cy="2364892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A01F502F-91C2-29AD-0AA6-6A78EFABF6F6}"/>
              </a:ext>
            </a:extLst>
          </p:cNvPr>
          <p:cNvSpPr txBox="1">
            <a:spLocks/>
          </p:cNvSpPr>
          <p:nvPr/>
        </p:nvSpPr>
        <p:spPr>
          <a:xfrm>
            <a:off x="7968208" y="5013175"/>
            <a:ext cx="4104456" cy="1122181"/>
          </a:xfrm>
          <a:prstGeom prst="rect">
            <a:avLst/>
          </a:prstGeom>
        </p:spPr>
        <p:txBody>
          <a:bodyPr>
            <a:noAutofit/>
          </a:bodyPr>
          <a:lstStyle>
            <a:lvl1pPr marL="177800" indent="-177800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•"/>
              <a:defRPr lang="ko-KR" alt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4013" indent="-174625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Arial" pitchFamily="34" charset="0"/>
              <a:buChar char="–"/>
              <a:def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79388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ko-KR" alt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76213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 lang="ko-KR" alt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667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lang="ko-KR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1" indent="0">
              <a:buNone/>
            </a:pPr>
            <a:r>
              <a:rPr lang="ko-KR" altLang="en-US" sz="1600" dirty="0"/>
              <a:t>소득 수준이 높은 그룹일수록 전반적인</a:t>
            </a:r>
            <a:endParaRPr lang="en-US" altLang="ko-KR" sz="1600" dirty="0"/>
          </a:p>
          <a:p>
            <a:pPr marL="179388" lvl="1" indent="0">
              <a:buNone/>
            </a:pPr>
            <a:r>
              <a:rPr lang="ko-KR" altLang="en-US" sz="1600" dirty="0"/>
              <a:t>높은 평가를 부여하는 경향이 있음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2902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6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53818</TotalTime>
  <Words>1009</Words>
  <Application>Microsoft Office PowerPoint</Application>
  <PresentationFormat>와이드스크린</PresentationFormat>
  <Paragraphs>167</Paragraphs>
  <Slides>12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나눔고딕</vt:lpstr>
      <vt:lpstr>Arial</vt:lpstr>
      <vt:lpstr>Wingdings</vt:lpstr>
      <vt:lpstr>맑은 고딕</vt:lpstr>
      <vt:lpstr>Office 테마</vt:lpstr>
      <vt:lpstr>PREMO를 이용한 TV 디자인 감성 평가 progress</vt:lpstr>
      <vt:lpstr>PowerPoint 프레젠테이션</vt:lpstr>
      <vt:lpstr>연구배경</vt:lpstr>
      <vt:lpstr>설문 데이터 소개 – 코드북 수정 사항</vt:lpstr>
      <vt:lpstr>설문 데이터 소개 – 데이터 개요</vt:lpstr>
      <vt:lpstr>설문 데이터 소개 – 데이터 개요</vt:lpstr>
      <vt:lpstr>메타 데이터 소개 – 코드북 수정 사항</vt:lpstr>
      <vt:lpstr>메타 데이터 소개 – 데이터 개요</vt:lpstr>
      <vt:lpstr>EDA 탐색적 데이터 분석 결과</vt:lpstr>
      <vt:lpstr>EDA 탐색적 데이터 분석 결과</vt:lpstr>
      <vt:lpstr>EDA 탐색적 데이터 분석 결과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 INFORMATION SYSTEMS IN BUSINESS TODAY</dc:title>
  <dc:creator>prehero</dc:creator>
  <cp:lastModifiedBy>qp autumn</cp:lastModifiedBy>
  <cp:revision>396</cp:revision>
  <dcterms:created xsi:type="dcterms:W3CDTF">2013-01-13T14:16:34Z</dcterms:created>
  <dcterms:modified xsi:type="dcterms:W3CDTF">2024-07-17T06:41:57Z</dcterms:modified>
</cp:coreProperties>
</file>